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6" r:id="rId3"/>
    <p:sldId id="260" r:id="rId4"/>
    <p:sldId id="258" r:id="rId5"/>
    <p:sldId id="259" r:id="rId6"/>
    <p:sldId id="263" r:id="rId7"/>
    <p:sldId id="273" r:id="rId8"/>
    <p:sldId id="264" r:id="rId9"/>
    <p:sldId id="265" r:id="rId10"/>
    <p:sldId id="271" r:id="rId11"/>
    <p:sldId id="266" r:id="rId12"/>
    <p:sldId id="267" r:id="rId13"/>
    <p:sldId id="274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9" autoAdjust="0"/>
    <p:restoredTop sz="95036" autoAdjust="0"/>
  </p:normalViewPr>
  <p:slideViewPr>
    <p:cSldViewPr snapToGrid="0">
      <p:cViewPr varScale="1">
        <p:scale>
          <a:sx n="35" d="100"/>
          <a:sy n="35" d="100"/>
        </p:scale>
        <p:origin x="34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570B4-62D7-4BE4-9509-3EC5600D6B0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2184D-491B-4AAA-9CE0-8BA238AD3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8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2184D-491B-4AAA-9CE0-8BA238AD37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6029-07FA-C813-CED4-10B854234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D4BFC-47BE-6D39-4A55-01FA4C90B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E06FA-C593-53BB-3A85-7C57FBB8B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CA316-752B-D74C-18FC-B6260111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2A49C-5410-EB23-937B-37C7A607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65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B975C-C847-51EC-BD72-9F8F300B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B5D1C-9EA6-499C-3917-DC3A5281E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304E4-C838-7314-F126-5544294E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EC064-3475-81D6-8E34-68FF6D26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6941-B895-C133-8A04-BF5D6792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9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7C5F-2AA9-8778-5E7F-9BBC8592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572E4-8008-CDEA-0103-EC854AD88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52FC6-8880-67D3-96C1-BCF860AA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AFA3B-7831-24B4-CDF2-D797F389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A0640-2955-7176-F58A-4C071AA7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8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0A34-2B29-9CE4-FB86-D9B86BA8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54ADE-B819-B05C-62C0-32AB0B9F7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830EE-1A5C-5EF7-DDDE-662EBBB66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EE000-D5BE-7F2B-65C1-76F30896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381FC-54AA-7FB6-60DA-A9D8B9B3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E3A7E-72AF-1C1B-3A18-E9E9CF7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1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E1D6-5682-48D8-C73D-678D0921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0C825-B50D-D102-64F8-867B1F439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050B0-415A-D5F3-4862-65A5A915B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B3EBF-3982-3CFE-C34D-88A46B413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DEC526-303A-4310-E365-62CB2581B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8C469-C3B4-13AA-04C6-3DD4FC4F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08EC82-D075-BEA9-0037-D3BBF55E1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50DDA-561A-89BF-97EB-69207988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B229-4E5B-09EB-2437-53C2FCDF1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75DBE-EA73-615C-0846-F75056AB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20A5F-1A2F-54A3-E438-8B6CD5D22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25F7B-7CCE-A865-8C47-E2E6D87B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0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70EE7-CE19-BBC8-7761-419825C6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1BF21-3468-5D1A-F1A6-13873683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630F-000A-5A34-ECE2-86F36C09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8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988F-703F-7413-5B29-524B7354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3FA59-9A62-53CF-B1D8-6914AEC77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CF68F-111C-43E2-123F-77F48FF4A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16275-3E24-E7B6-BE71-A169D034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E3D1F-F28D-9C0C-FA41-2E39B67D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11435-9026-1442-4E11-7F8D021F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8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88D7-2E53-ABA2-144C-8E145E50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88208-06C9-861F-3DAD-957188690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326E0-41CD-1583-2215-5272EA90E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42DC9-E21B-CFE8-5ADD-3D8B4B8F4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E2921-2021-4889-F186-EDB91794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E31F3-8D31-B8F7-FD88-EEF8361E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0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5AAC-E483-9114-EB9B-3D709DD2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480AF-B0FC-896D-C2EA-474BCA383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9EED5-AD5D-1A1E-79C8-1FAA3A04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B6046-2FA5-1A1C-5116-581D3BD77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AC1BA-080A-F18C-75BF-49F09B7A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3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916BEE-FF0D-3160-5A12-D727A7A78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11437-54BC-2353-E1C1-D6B04F56C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4E204-82F3-F403-C9E2-6D9B1FD5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4E2DE-C651-D9C0-6FA8-8752A03D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707ED-9349-F4C4-2BAB-208BF0D2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6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5C0B0-3E18-7750-D593-06B46441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D0FF3-6A8A-DB61-0574-42444D91F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3925-655C-7CC3-CFAC-2228A54A6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E63A0-8AF6-44E5-837A-1FC64541F78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3E44B-CC5C-FFBC-BAB8-24B60CF1C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279E7-BAEE-3952-BA1B-49741C179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48C2E-70DF-4C05-9FE5-245BE3530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36D4ED-1668-5FB1-315D-4C16665FF7D8}"/>
                  </a:ext>
                </a:extLst>
              </p:cNvPr>
              <p:cNvSpPr txBox="1"/>
              <p:nvPr/>
            </p:nvSpPr>
            <p:spPr>
              <a:xfrm>
                <a:off x="954364" y="2941234"/>
                <a:ext cx="40353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mo separator="true">|</m:mo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36D4ED-1668-5FB1-315D-4C16665FF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64" y="2941234"/>
                <a:ext cx="4035335" cy="276999"/>
              </a:xfrm>
              <a:prstGeom prst="rect">
                <a:avLst/>
              </a:prstGeom>
              <a:blipFill>
                <a:blip r:embed="rId2"/>
                <a:stretch>
                  <a:fillRect l="-1057" t="-2174" r="-45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95849F-8DC6-F9D7-80CD-5E7EB75E7EB1}"/>
                  </a:ext>
                </a:extLst>
              </p:cNvPr>
              <p:cNvSpPr txBox="1"/>
              <p:nvPr/>
            </p:nvSpPr>
            <p:spPr>
              <a:xfrm>
                <a:off x="954364" y="3317799"/>
                <a:ext cx="35434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95849F-8DC6-F9D7-80CD-5E7EB75E7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64" y="3317799"/>
                <a:ext cx="3543406" cy="276999"/>
              </a:xfrm>
              <a:prstGeom prst="rect">
                <a:avLst/>
              </a:prstGeom>
              <a:blipFill>
                <a:blip r:embed="rId3"/>
                <a:stretch>
                  <a:fillRect l="-1205" t="-2174" r="-68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6B3D4E-C073-E0FE-3EAF-AC8F5436C054}"/>
                  </a:ext>
                </a:extLst>
              </p:cNvPr>
              <p:cNvSpPr txBox="1"/>
              <p:nvPr/>
            </p:nvSpPr>
            <p:spPr>
              <a:xfrm>
                <a:off x="954364" y="360208"/>
                <a:ext cx="24142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||(¬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6B3D4E-C073-E0FE-3EAF-AC8F5436C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64" y="360208"/>
                <a:ext cx="2414251" cy="276999"/>
              </a:xfrm>
              <a:prstGeom prst="rect">
                <a:avLst/>
              </a:prstGeom>
              <a:blipFill>
                <a:blip r:embed="rId4"/>
                <a:stretch>
                  <a:fillRect l="-253" t="-2174" r="-328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996F1-0C53-014A-CCEC-62E62AFA2D48}"/>
                  </a:ext>
                </a:extLst>
              </p:cNvPr>
              <p:cNvSpPr txBox="1"/>
              <p:nvPr/>
            </p:nvSpPr>
            <p:spPr>
              <a:xfrm>
                <a:off x="954364" y="737312"/>
                <a:ext cx="23618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&amp;(¬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996F1-0C53-014A-CCEC-62E62AFA2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64" y="737312"/>
                <a:ext cx="2361865" cy="276999"/>
              </a:xfrm>
              <a:prstGeom prst="rect">
                <a:avLst/>
              </a:prstGeom>
              <a:blipFill>
                <a:blip r:embed="rId5"/>
                <a:stretch>
                  <a:fillRect l="-258" t="-2222" r="-335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3627F5-531B-8BF3-02B8-7446641F9B99}"/>
                  </a:ext>
                </a:extLst>
              </p:cNvPr>
              <p:cNvSpPr txBox="1"/>
              <p:nvPr/>
            </p:nvSpPr>
            <p:spPr>
              <a:xfrm>
                <a:off x="1003096" y="2291475"/>
                <a:ext cx="2365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mo separator="true">|</m:mo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3627F5-531B-8BF3-02B8-7446641F9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096" y="2291475"/>
                <a:ext cx="2365519" cy="276999"/>
              </a:xfrm>
              <a:prstGeom prst="rect">
                <a:avLst/>
              </a:prstGeom>
              <a:blipFill>
                <a:blip r:embed="rId6"/>
                <a:stretch>
                  <a:fillRect l="-2062" t="-2222" r="-206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1792EE-A1FF-67FD-BC25-92E43731756F}"/>
                  </a:ext>
                </a:extLst>
              </p:cNvPr>
              <p:cNvSpPr txBox="1"/>
              <p:nvPr/>
            </p:nvSpPr>
            <p:spPr>
              <a:xfrm>
                <a:off x="954364" y="3996293"/>
                <a:ext cx="29519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1792EE-A1FF-67FD-BC25-92E437317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64" y="3996293"/>
                <a:ext cx="2951962" cy="276999"/>
              </a:xfrm>
              <a:prstGeom prst="rect">
                <a:avLst/>
              </a:prstGeom>
              <a:blipFill>
                <a:blip r:embed="rId7"/>
                <a:stretch>
                  <a:fillRect l="-1653" t="-4444" r="-247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BF17D9B-D65B-2243-742A-7326E642C388}"/>
              </a:ext>
            </a:extLst>
          </p:cNvPr>
          <p:cNvSpPr/>
          <p:nvPr/>
        </p:nvSpPr>
        <p:spPr>
          <a:xfrm>
            <a:off x="738187" y="166686"/>
            <a:ext cx="10542678" cy="63311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937924-A891-E0E4-6EA2-0CDFAAB3F7F9}"/>
                  </a:ext>
                </a:extLst>
              </p:cNvPr>
              <p:cNvSpPr txBox="1"/>
              <p:nvPr/>
            </p:nvSpPr>
            <p:spPr>
              <a:xfrm>
                <a:off x="1073851" y="1199211"/>
                <a:ext cx="1976695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&amp;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937924-A891-E0E4-6EA2-0CDFAAB3F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851" y="1199211"/>
                <a:ext cx="1976695" cy="5866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E64A38-BA4E-8743-07F2-C036E7E45940}"/>
                  </a:ext>
                </a:extLst>
              </p:cNvPr>
              <p:cNvSpPr txBox="1"/>
              <p:nvPr/>
            </p:nvSpPr>
            <p:spPr>
              <a:xfrm>
                <a:off x="1003096" y="1966596"/>
                <a:ext cx="1902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E64A38-BA4E-8743-07F2-C036E7E45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096" y="1966596"/>
                <a:ext cx="1902509" cy="276999"/>
              </a:xfrm>
              <a:prstGeom prst="rect">
                <a:avLst/>
              </a:prstGeom>
              <a:blipFill>
                <a:blip r:embed="rId9"/>
                <a:stretch>
                  <a:fillRect l="-2885" t="-4444" r="-25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52B7977-2D39-F9BB-481A-654D034CA61B}"/>
              </a:ext>
            </a:extLst>
          </p:cNvPr>
          <p:cNvSpPr txBox="1"/>
          <p:nvPr/>
        </p:nvSpPr>
        <p:spPr>
          <a:xfrm>
            <a:off x="3532406" y="552646"/>
            <a:ext cx="241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 Morgan's laws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F37DD-2934-4BFC-CADA-1BD17E2DA351}"/>
              </a:ext>
            </a:extLst>
          </p:cNvPr>
          <p:cNvSpPr txBox="1"/>
          <p:nvPr/>
        </p:nvSpPr>
        <p:spPr>
          <a:xfrm>
            <a:off x="3532405" y="1247456"/>
            <a:ext cx="241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Bayes law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C5F6ED-DE8E-501C-7F37-CE27CE0C4CBB}"/>
              </a:ext>
            </a:extLst>
          </p:cNvPr>
          <p:cNvSpPr txBox="1"/>
          <p:nvPr/>
        </p:nvSpPr>
        <p:spPr>
          <a:xfrm>
            <a:off x="3437155" y="2084118"/>
            <a:ext cx="22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831514-381D-D7CB-BB41-9DF313DBFBC2}"/>
                  </a:ext>
                </a:extLst>
              </p:cNvPr>
              <p:cNvSpPr txBox="1"/>
              <p:nvPr/>
            </p:nvSpPr>
            <p:spPr>
              <a:xfrm>
                <a:off x="954364" y="4342227"/>
                <a:ext cx="28843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831514-381D-D7CB-BB41-9DF313DBF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64" y="4342227"/>
                <a:ext cx="2884379" cy="276999"/>
              </a:xfrm>
              <a:prstGeom prst="rect">
                <a:avLst/>
              </a:prstGeom>
              <a:blipFill>
                <a:blip r:embed="rId10"/>
                <a:stretch>
                  <a:fillRect l="-1691" t="-2174" r="-253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D7E0CB-A351-2053-27A8-9D3220C00732}"/>
                  </a:ext>
                </a:extLst>
              </p:cNvPr>
              <p:cNvSpPr txBox="1"/>
              <p:nvPr/>
            </p:nvSpPr>
            <p:spPr>
              <a:xfrm>
                <a:off x="911135" y="3650359"/>
                <a:ext cx="34921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||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D7E0CB-A351-2053-27A8-9D3220C00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135" y="3650359"/>
                <a:ext cx="3492110" cy="276999"/>
              </a:xfrm>
              <a:prstGeom prst="rect">
                <a:avLst/>
              </a:prstGeom>
              <a:blipFill>
                <a:blip r:embed="rId11"/>
                <a:stretch>
                  <a:fillRect l="-1222"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7FA18D-C0E5-9B78-20A0-B7793F1D9F8B}"/>
                  </a:ext>
                </a:extLst>
              </p:cNvPr>
              <p:cNvSpPr txBox="1"/>
              <p:nvPr/>
            </p:nvSpPr>
            <p:spPr>
              <a:xfrm>
                <a:off x="1003096" y="5150779"/>
                <a:ext cx="71978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7FA18D-C0E5-9B78-20A0-B7793F1D9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096" y="5150779"/>
                <a:ext cx="7197868" cy="276999"/>
              </a:xfrm>
              <a:prstGeom prst="rect">
                <a:avLst/>
              </a:prstGeom>
              <a:blipFill>
                <a:blip r:embed="rId12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F30C0E-B521-C09B-E00D-FA2AD3F50556}"/>
                  </a:ext>
                </a:extLst>
              </p:cNvPr>
              <p:cNvSpPr txBox="1"/>
              <p:nvPr/>
            </p:nvSpPr>
            <p:spPr>
              <a:xfrm>
                <a:off x="738187" y="5561345"/>
                <a:ext cx="8564556" cy="788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nary>
                        <m:naryPr>
                          <m:chr m:val="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F30C0E-B521-C09B-E00D-FA2AD3F50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7" y="5561345"/>
                <a:ext cx="8564556" cy="788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56CDEF-F114-1AA2-423F-A297953FD95C}"/>
                  </a:ext>
                </a:extLst>
              </p:cNvPr>
              <p:cNvSpPr txBox="1"/>
              <p:nvPr/>
            </p:nvSpPr>
            <p:spPr>
              <a:xfrm>
                <a:off x="6880106" y="507656"/>
                <a:ext cx="2661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56CDEF-F114-1AA2-423F-A297953FD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106" y="507656"/>
                <a:ext cx="2661370" cy="276999"/>
              </a:xfrm>
              <a:prstGeom prst="rect">
                <a:avLst/>
              </a:prstGeom>
              <a:blipFill>
                <a:blip r:embed="rId14"/>
                <a:stretch>
                  <a:fillRect l="-1835" t="-2174" r="-1606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6D354C-0000-2488-68A1-4089896E7584}"/>
                  </a:ext>
                </a:extLst>
              </p:cNvPr>
              <p:cNvSpPr txBox="1"/>
              <p:nvPr/>
            </p:nvSpPr>
            <p:spPr>
              <a:xfrm>
                <a:off x="6880106" y="848626"/>
                <a:ext cx="26623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6D354C-0000-2488-68A1-4089896E7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106" y="848626"/>
                <a:ext cx="2662332" cy="276999"/>
              </a:xfrm>
              <a:prstGeom prst="rect">
                <a:avLst/>
              </a:prstGeom>
              <a:blipFill>
                <a:blip r:embed="rId15"/>
                <a:stretch>
                  <a:fillRect l="-1835" t="-2174" r="-1606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12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20F005-A991-2CC8-BF1F-9B085F729284}"/>
                  </a:ext>
                </a:extLst>
              </p:cNvPr>
              <p:cNvSpPr txBox="1"/>
              <p:nvPr/>
            </p:nvSpPr>
            <p:spPr>
              <a:xfrm>
                <a:off x="535722" y="279242"/>
                <a:ext cx="2874227" cy="38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20F005-A991-2CC8-BF1F-9B085F729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22" y="279242"/>
                <a:ext cx="2874227" cy="384336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0849AD-CD15-D933-1FC9-6D4F86DB8B28}"/>
                  </a:ext>
                </a:extLst>
              </p:cNvPr>
              <p:cNvSpPr txBox="1"/>
              <p:nvPr/>
            </p:nvSpPr>
            <p:spPr>
              <a:xfrm>
                <a:off x="2971549" y="277831"/>
                <a:ext cx="4629403" cy="385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≜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0849AD-CD15-D933-1FC9-6D4F86DB8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549" y="277831"/>
                <a:ext cx="4629403" cy="385747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FE24A6-89FC-D5C1-9B51-036192BD9453}"/>
                  </a:ext>
                </a:extLst>
              </p:cNvPr>
              <p:cNvSpPr txBox="1"/>
              <p:nvPr/>
            </p:nvSpPr>
            <p:spPr>
              <a:xfrm>
                <a:off x="345223" y="1306788"/>
                <a:ext cx="5919662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FE24A6-89FC-D5C1-9B51-036192BD9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23" y="1306788"/>
                <a:ext cx="5919662" cy="404983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294388-C181-E758-6ACB-7C1548D9592F}"/>
                  </a:ext>
                </a:extLst>
              </p:cNvPr>
              <p:cNvSpPr txBox="1"/>
              <p:nvPr/>
            </p:nvSpPr>
            <p:spPr>
              <a:xfrm>
                <a:off x="449998" y="4606765"/>
                <a:ext cx="5772277" cy="1252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=1−2∑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294388-C181-E758-6ACB-7C1548D95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8" y="4606765"/>
                <a:ext cx="5772277" cy="1252394"/>
              </a:xfrm>
              <a:prstGeom prst="rect">
                <a:avLst/>
              </a:prstGeom>
              <a:blipFill>
                <a:blip r:embed="rId5"/>
                <a:stretch>
                  <a:fillRect b="-3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34FA4F-6E81-81CE-71FD-3D86A4F2905B}"/>
                  </a:ext>
                </a:extLst>
              </p:cNvPr>
              <p:cNvSpPr txBox="1"/>
              <p:nvPr/>
            </p:nvSpPr>
            <p:spPr>
              <a:xfrm>
                <a:off x="535722" y="1847884"/>
                <a:ext cx="6950871" cy="1825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𝑛𝑜𝑏𝑜𝑑𝑦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&amp;(¬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34FA4F-6E81-81CE-71FD-3D86A4F29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22" y="1847884"/>
                <a:ext cx="6950871" cy="18256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B88A36-68C4-7C83-EA0F-6E8383F42AA9}"/>
                  </a:ext>
                </a:extLst>
              </p:cNvPr>
              <p:cNvSpPr txBox="1"/>
              <p:nvPr/>
            </p:nvSpPr>
            <p:spPr>
              <a:xfrm>
                <a:off x="104775" y="3303941"/>
                <a:ext cx="5919662" cy="969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B88A36-68C4-7C83-EA0F-6E8383F42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" y="3303941"/>
                <a:ext cx="5919662" cy="969048"/>
              </a:xfrm>
              <a:prstGeom prst="rect">
                <a:avLst/>
              </a:prstGeom>
              <a:blipFill>
                <a:blip r:embed="rId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22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9C9D5C-0B89-5F9D-DD0F-D163C241C541}"/>
                  </a:ext>
                </a:extLst>
              </p:cNvPr>
              <p:cNvSpPr txBox="1"/>
              <p:nvPr/>
            </p:nvSpPr>
            <p:spPr>
              <a:xfrm>
                <a:off x="-109536" y="162554"/>
                <a:ext cx="5919662" cy="459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𝑡𝑖𝑚𝑒𝑠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1−∑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9C9D5C-0B89-5F9D-DD0F-D163C241C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9536" y="162554"/>
                <a:ext cx="5919662" cy="459806"/>
              </a:xfrm>
              <a:prstGeom prst="rect">
                <a:avLst/>
              </a:prstGeom>
              <a:blipFill>
                <a:blip r:embed="rId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F7FFA3-3310-B346-A4D8-6531B6CC0086}"/>
                  </a:ext>
                </a:extLst>
              </p:cNvPr>
              <p:cNvSpPr txBox="1"/>
              <p:nvPr/>
            </p:nvSpPr>
            <p:spPr>
              <a:xfrm>
                <a:off x="0" y="539397"/>
                <a:ext cx="5919662" cy="459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1−∑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F7FFA3-3310-B346-A4D8-6531B6CC0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9397"/>
                <a:ext cx="5919662" cy="459806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7BFE32-935E-28FE-F8EC-B9A4A8B1569E}"/>
                  </a:ext>
                </a:extLst>
              </p:cNvPr>
              <p:cNvSpPr txBox="1"/>
              <p:nvPr/>
            </p:nvSpPr>
            <p:spPr>
              <a:xfrm>
                <a:off x="521062" y="4110064"/>
                <a:ext cx="6779478" cy="1085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&amp;(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1−∑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1−2∑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+∑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7BFE32-935E-28FE-F8EC-B9A4A8B15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62" y="4110064"/>
                <a:ext cx="6779478" cy="1085105"/>
              </a:xfrm>
              <a:prstGeom prst="rect">
                <a:avLst/>
              </a:prstGeom>
              <a:blipFill>
                <a:blip r:embed="rId4"/>
                <a:stretch>
                  <a:fillRect b="-2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7B93AB-6E3B-DE4D-772A-85891D216C04}"/>
                  </a:ext>
                </a:extLst>
              </p:cNvPr>
              <p:cNvSpPr txBox="1"/>
              <p:nvPr/>
            </p:nvSpPr>
            <p:spPr>
              <a:xfrm>
                <a:off x="-177695" y="1294779"/>
                <a:ext cx="10003317" cy="459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&amp;¬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𝑡𝑖𝑚𝑒𝑠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+∑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7B93AB-6E3B-DE4D-772A-85891D216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7695" y="1294779"/>
                <a:ext cx="10003317" cy="459806"/>
              </a:xfrm>
              <a:prstGeom prst="rect">
                <a:avLst/>
              </a:prstGeom>
              <a:blipFill>
                <a:blip r:embed="rId5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297C86-5A90-D840-D15D-F19E8D9C0BDF}"/>
                  </a:ext>
                </a:extLst>
              </p:cNvPr>
              <p:cNvSpPr txBox="1"/>
              <p:nvPr/>
            </p:nvSpPr>
            <p:spPr>
              <a:xfrm>
                <a:off x="-1090858" y="1905861"/>
                <a:ext cx="10003317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)||(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297C86-5A90-D840-D15D-F19E8D9C0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90858" y="1905861"/>
                <a:ext cx="10003317" cy="404983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6D5ED3-52F4-9235-6695-588234754BB2}"/>
                  </a:ext>
                </a:extLst>
              </p:cNvPr>
              <p:cNvSpPr txBox="1"/>
              <p:nvPr/>
            </p:nvSpPr>
            <p:spPr>
              <a:xfrm>
                <a:off x="774441" y="2427004"/>
                <a:ext cx="10643118" cy="2060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=1−3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1−3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6D5ED3-52F4-9235-6695-588234754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441" y="2427004"/>
                <a:ext cx="10643118" cy="2060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AB9BDA-6A85-D41E-8212-BFCC1B97B378}"/>
                  </a:ext>
                </a:extLst>
              </p:cNvPr>
              <p:cNvSpPr txBox="1"/>
              <p:nvPr/>
            </p:nvSpPr>
            <p:spPr>
              <a:xfrm>
                <a:off x="521061" y="5391468"/>
                <a:ext cx="11198187" cy="994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&amp;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&amp;¬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AB9BDA-6A85-D41E-8212-BFCC1B97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61" y="5391468"/>
                <a:ext cx="11198187" cy="994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08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5DE49F-10B7-4A22-0487-55C97EDEE34E}"/>
                  </a:ext>
                </a:extLst>
              </p:cNvPr>
              <p:cNvSpPr txBox="1"/>
              <p:nvPr/>
            </p:nvSpPr>
            <p:spPr>
              <a:xfrm>
                <a:off x="526198" y="156203"/>
                <a:ext cx="8284428" cy="1920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𝑏𝑒𝑓𝑜𝑟𝑒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1−∑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1−∑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5DE49F-10B7-4A22-0487-55C97EDEE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98" y="156203"/>
                <a:ext cx="8284428" cy="1920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EF7389-3C73-0982-8BD5-0E3D9D380E1F}"/>
                  </a:ext>
                </a:extLst>
              </p:cNvPr>
              <p:cNvSpPr txBox="1"/>
              <p:nvPr/>
            </p:nvSpPr>
            <p:spPr>
              <a:xfrm>
                <a:off x="526197" y="3429000"/>
                <a:ext cx="11541977" cy="1920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𝑛𝑒𝑣𝑒𝑟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𝑏𝑒𝑓𝑜𝑟𝑒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1−2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+∑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EF7389-3C73-0982-8BD5-0E3D9D380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97" y="3429000"/>
                <a:ext cx="11541977" cy="19207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8D214D-5D9E-58EF-1C32-029782A305BF}"/>
                  </a:ext>
                </a:extLst>
              </p:cNvPr>
              <p:cNvSpPr txBox="1"/>
              <p:nvPr/>
            </p:nvSpPr>
            <p:spPr>
              <a:xfrm>
                <a:off x="650023" y="5426596"/>
                <a:ext cx="11541977" cy="2291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1−∑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1−2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+∑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1−∑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1−2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+∑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8D214D-5D9E-58EF-1C32-029782A30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23" y="5426596"/>
                <a:ext cx="11541977" cy="2291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811DB9-1EED-0701-9F74-868AAFEAE44D}"/>
                  </a:ext>
                </a:extLst>
              </p:cNvPr>
              <p:cNvSpPr txBox="1"/>
              <p:nvPr/>
            </p:nvSpPr>
            <p:spPr>
              <a:xfrm>
                <a:off x="526197" y="2210272"/>
                <a:ext cx="11541977" cy="1141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𝑑𝑢𝑟𝑖𝑛𝑔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𝑛𝑜𝑡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𝑏𝑒𝑓𝑜𝑟𝑒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d>
                            </m:e>
                          </m:eqArr>
                        </m:e>
                      </m:nary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811DB9-1EED-0701-9F74-868AAFEAE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97" y="2210272"/>
                <a:ext cx="11541977" cy="11418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0393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C187C0-747D-DEED-226A-0DB380DF0D68}"/>
                  </a:ext>
                </a:extLst>
              </p:cNvPr>
              <p:cNvSpPr txBox="1"/>
              <p:nvPr/>
            </p:nvSpPr>
            <p:spPr>
              <a:xfrm>
                <a:off x="496064" y="5173825"/>
                <a:ext cx="11541977" cy="2656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)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or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or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C187C0-747D-DEED-226A-0DB380DF0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64" y="5173825"/>
                <a:ext cx="11541977" cy="2656625"/>
              </a:xfrm>
              <a:prstGeom prst="rect">
                <a:avLst/>
              </a:prstGeom>
              <a:blipFill>
                <a:blip r:embed="rId2"/>
                <a:stretch>
                  <a:fillRect r="-38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2FCF19-17DA-599E-F25C-E08F35D34BBA}"/>
                  </a:ext>
                </a:extLst>
              </p:cNvPr>
              <p:cNvSpPr txBox="1"/>
              <p:nvPr/>
            </p:nvSpPr>
            <p:spPr>
              <a:xfrm>
                <a:off x="496065" y="2094246"/>
                <a:ext cx="11541977" cy="1962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𝑑𝑢𝑟𝑖𝑛𝑔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𝑑𝑢𝑟𝑖𝑛𝑔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𝑏𝑒𝑓𝑜𝑟𝑒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𝑛𝑜𝑡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𝑙𝑒𝑎𝑠𝑡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𝑜𝑛𝑐𝑒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𝑎𝑓𝑡𝑒𝑟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𝑏𝑒𝑓𝑜𝑟𝑒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eqArr>
                        </m:e>
                      </m:nary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)(1−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2FCF19-17DA-599E-F25C-E08F35D3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65" y="2094246"/>
                <a:ext cx="11541977" cy="19627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2EE682-8AD9-C94D-D1A4-3EC5DF4C2D02}"/>
                  </a:ext>
                </a:extLst>
              </p:cNvPr>
              <p:cNvSpPr txBox="1"/>
              <p:nvPr/>
            </p:nvSpPr>
            <p:spPr>
              <a:xfrm>
                <a:off x="496066" y="75540"/>
                <a:ext cx="11541977" cy="1249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𝑑𝑢𝑟𝑖𝑛𝑔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and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𝑏𝑒𝑓𝑜𝑟𝑒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+2∗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and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𝑏𝑒𝑓𝑜𝑟𝑒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𝑏𝑒𝑓𝑜𝑟𝑒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2EE682-8AD9-C94D-D1A4-3EC5DF4C2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66" y="75540"/>
                <a:ext cx="11541977" cy="1249701"/>
              </a:xfrm>
              <a:prstGeom prst="rect">
                <a:avLst/>
              </a:prstGeom>
              <a:blipFill>
                <a:blip r:embed="rId4"/>
                <a:stretch>
                  <a:fillRect r="-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9448AF7-E6F7-5EDE-B4E1-99BC9411B802}"/>
              </a:ext>
            </a:extLst>
          </p:cNvPr>
          <p:cNvSpPr txBox="1"/>
          <p:nvPr/>
        </p:nvSpPr>
        <p:spPr>
          <a:xfrm>
            <a:off x="253469" y="4804493"/>
            <a:ext cx="445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Single source percolation </a:t>
            </a:r>
          </a:p>
        </p:txBody>
      </p:sp>
    </p:spTree>
    <p:extLst>
      <p:ext uri="{BB962C8B-B14F-4D97-AF65-F5344CB8AC3E}">
        <p14:creationId xmlns:p14="http://schemas.microsoft.com/office/powerpoint/2010/main" val="1788756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6047D6-14F4-D2DD-F949-333924A31E67}"/>
                  </a:ext>
                </a:extLst>
              </p:cNvPr>
              <p:cNvSpPr txBox="1"/>
              <p:nvPr/>
            </p:nvSpPr>
            <p:spPr>
              <a:xfrm>
                <a:off x="298890" y="463241"/>
                <a:ext cx="11594220" cy="1927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&amp;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&amp;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and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𝑎𝑛𝑑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𝑏𝑒𝑓𝑜𝑟𝑒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𝑎𝑛𝑑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𝑛𝑜𝑡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+2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6047D6-14F4-D2DD-F949-333924A31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0" y="463241"/>
                <a:ext cx="11594220" cy="1927066"/>
              </a:xfrm>
              <a:prstGeom prst="rect">
                <a:avLst/>
              </a:prstGeom>
              <a:blipFill>
                <a:blip r:embed="rId2"/>
                <a:stretch>
                  <a:fillRect r="-28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677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5C5AFF-A36D-39CE-439A-4994B503BCF4}"/>
                  </a:ext>
                </a:extLst>
              </p:cNvPr>
              <p:cNvSpPr txBox="1"/>
              <p:nvPr/>
            </p:nvSpPr>
            <p:spPr>
              <a:xfrm>
                <a:off x="435100" y="476696"/>
                <a:ext cx="11541977" cy="2343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1−2)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(0−2)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0−1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(1−2)&lt;(0−1)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0−2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)&lt;(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)&lt;(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)&lt;(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((1−2)&lt;(0−1))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or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5C5AFF-A36D-39CE-439A-4994B503B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00" y="476696"/>
                <a:ext cx="11541977" cy="2343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FBBDAE-0A0B-923B-D851-0EE8926A0F28}"/>
              </a:ext>
            </a:extLst>
          </p:cNvPr>
          <p:cNvSpPr txBox="1"/>
          <p:nvPr/>
        </p:nvSpPr>
        <p:spPr>
          <a:xfrm>
            <a:off x="192505" y="107364"/>
            <a:ext cx="445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Single source percolation </a:t>
            </a:r>
          </a:p>
        </p:txBody>
      </p:sp>
    </p:spTree>
    <p:extLst>
      <p:ext uri="{BB962C8B-B14F-4D97-AF65-F5344CB8AC3E}">
        <p14:creationId xmlns:p14="http://schemas.microsoft.com/office/powerpoint/2010/main" val="419132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8FE89-2E8A-024C-B087-9478EECBECC3}"/>
              </a:ext>
            </a:extLst>
          </p:cNvPr>
          <p:cNvSpPr txBox="1"/>
          <p:nvPr/>
        </p:nvSpPr>
        <p:spPr>
          <a:xfrm>
            <a:off x="270588" y="102637"/>
            <a:ext cx="190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percolate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7EFF6C-3E4B-20F6-0457-ED5F1B4C09A0}"/>
                  </a:ext>
                </a:extLst>
              </p:cNvPr>
              <p:cNvSpPr txBox="1"/>
              <p:nvPr/>
            </p:nvSpPr>
            <p:spPr>
              <a:xfrm>
                <a:off x="130629" y="565275"/>
                <a:ext cx="12296775" cy="5161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)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and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and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[(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)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and</m:t>
                                  </m:r>
                                </m: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and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[(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)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e>
                                  <m:eqArr>
                                    <m:eqArr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and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or</m:t>
                                          </m:r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or</m:t>
                                          </m:r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eqAr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and</m:t>
                                  </m:r>
                                </m: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𝑙𝑒𝑎𝑠𝑡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𝑎𝑓𝑡𝑒𝑟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)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𝑙𝑒𝑎𝑠𝑡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𝑜𝑛𝑐𝑒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𝑎𝑓𝑡𝑒𝑟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</m:d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𝑙𝑒𝑎𝑠𝑡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𝑜𝑛𝑐𝑒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𝑎𝑓𝑡𝑒𝑟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</m:d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𝑜𝑟</m:t>
                                                </m:r>
                                              </m: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𝑚𝑒𝑡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𝑎𝑡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𝑙𝑒𝑎𝑠𝑡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𝑜𝑛𝑐𝑒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𝑎𝑓𝑡𝑒𝑟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𝑚𝑒𝑡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</m:e>
                                                </m:d>
                                              </m:e>
                                            </m:eqArr>
                                          </m:e>
                                        </m:eqArr>
                                      </m:e>
                                      <m:e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𝑜𝑟</m:t>
                                            </m:r>
                                          </m: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𝑙𝑒𝑎𝑠𝑡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𝑜𝑛𝑐𝑒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𝑎𝑓𝑡𝑒𝑟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e>
                                            </m:d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𝑜𝑟</m:t>
                                                </m:r>
                                              </m: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𝑚𝑒𝑡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e>
                                                </m:d>
                                                <m:d>
                                                  <m:d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𝑚𝑒𝑡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e>
                                                </m:d>
                                                <m:d>
                                                  <m:d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𝑚𝑒𝑡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e>
                                                </m:d>
                                              </m:e>
                                            </m:eqArr>
                                          </m:e>
                                        </m:eqArr>
                                      </m:e>
                                    </m:eqArr>
                                  </m:e>
                                </m:d>
                              </m:e>
                            </m:eqArr>
                          </m:e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and</m:t>
                                </m:r>
                              </m: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𝑚𝑒𝑡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𝑙𝑒𝑎𝑠𝑡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𝑜𝑛𝑐𝑒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𝑎𝑓𝑡𝑒𝑟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𝑚𝑒𝑡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or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𝑚𝑒𝑡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𝑙𝑒𝑎𝑠𝑡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𝑜𝑛𝑐𝑒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𝑎𝑓𝑡𝑒𝑟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𝑚𝑒𝑡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)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or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𝑚𝑒𝑡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𝑚𝑒𝑡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eqArr>
                          </m:e>
                        </m:eqAr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7EFF6C-3E4B-20F6-0457-ED5F1B4C0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29" y="565275"/>
                <a:ext cx="12296775" cy="5161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36D4B9-CBB3-5AC7-7F9A-B4D4FF560AEC}"/>
              </a:ext>
            </a:extLst>
          </p:cNvPr>
          <p:cNvSpPr txBox="1"/>
          <p:nvPr/>
        </p:nvSpPr>
        <p:spPr>
          <a:xfrm>
            <a:off x="11058330" y="565275"/>
            <a:ext cx="157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percolation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35F8E-B7BB-DBBF-93C2-C118F8ABB215}"/>
              </a:ext>
            </a:extLst>
          </p:cNvPr>
          <p:cNvSpPr txBox="1"/>
          <p:nvPr/>
        </p:nvSpPr>
        <p:spPr>
          <a:xfrm>
            <a:off x="11132975" y="1131569"/>
            <a:ext cx="157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 percolation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03E04-68B5-910C-4055-9FBCAE3F1847}"/>
              </a:ext>
            </a:extLst>
          </p:cNvPr>
          <p:cNvSpPr txBox="1"/>
          <p:nvPr/>
        </p:nvSpPr>
        <p:spPr>
          <a:xfrm>
            <a:off x="11132975" y="1594207"/>
            <a:ext cx="157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percolation</a:t>
            </a:r>
          </a:p>
        </p:txBody>
      </p:sp>
    </p:spTree>
    <p:extLst>
      <p:ext uri="{BB962C8B-B14F-4D97-AF65-F5344CB8AC3E}">
        <p14:creationId xmlns:p14="http://schemas.microsoft.com/office/powerpoint/2010/main" val="1927349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91E053-1B9C-22CE-3341-3105145BD88B}"/>
              </a:ext>
            </a:extLst>
          </p:cNvPr>
          <p:cNvSpPr txBox="1"/>
          <p:nvPr/>
        </p:nvSpPr>
        <p:spPr>
          <a:xfrm>
            <a:off x="270588" y="102637"/>
            <a:ext cx="190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percolate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EBE1B0-3876-B88F-3D15-C2B9165D8049}"/>
                  </a:ext>
                </a:extLst>
              </p:cNvPr>
              <p:cNvSpPr txBox="1"/>
              <p:nvPr/>
            </p:nvSpPr>
            <p:spPr>
              <a:xfrm>
                <a:off x="270588" y="471969"/>
                <a:ext cx="12296775" cy="4042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eqArr>
                                                  <m:eqArrPr>
                                                    <m:ctrlPr>
                                                      <a:rPr lang="en-US" b="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eqArrPr>
                                                  <m:e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𝑚𝑒𝑡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𝑙𝑒𝑎𝑠𝑡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𝑜𝑛𝑐𝑒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𝑎𝑓𝑡𝑒𝑟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𝑚𝑒𝑡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</m:e>
                                                    </m:d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𝑚𝑒𝑡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𝑙𝑒𝑎𝑠𝑡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𝑜𝑛𝑐𝑒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𝑎𝑓𝑡𝑒𝑟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𝑚𝑒𝑡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𝑜𝑟</m:t>
                                                    </m:r>
                                                  </m:e>
                                                  <m:e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𝑚𝑒𝑡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𝑙𝑒𝑎𝑠𝑡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𝑜𝑛𝑐𝑒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𝑎𝑓𝑡𝑒𝑟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𝑚𝑒𝑡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</m:e>
                                                    </m:d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𝑚𝑒𝑡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𝑙𝑒𝑎𝑠𝑡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𝑜𝑛𝑐𝑒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𝑎𝑓𝑡𝑒𝑟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𝑚𝑒𝑡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eqArr>
                                              </m:e>
                                            </m:eqArr>
                                          </m:e>
                                        </m:eqArr>
                                      </m: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or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𝑙𝑒𝑎𝑠𝑡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𝑜𝑛𝑐𝑒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𝑎𝑓𝑡𝑒𝑟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e>
                                            </m:d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𝑙𝑒𝑎𝑠𝑡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𝑜𝑛𝑐𝑒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𝑎𝑓𝑡𝑒𝑟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𝑚𝑒𝑡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e>
                                            </m:d>
                                          </m:e>
                                        </m:eqAr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𝑜𝑟</m:t>
                                        </m:r>
                                      </m: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𝑚𝑒𝑡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𝑚𝑒𝑡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𝑚𝑒𝑡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eqArr>
                                  </m:e>
                                </m:d>
                              </m:e>
                            </m:eqArr>
                          </m:e>
                        </m:eqAr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(¬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𝑚𝑒𝑒𝑡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𝑙𝑒𝑎𝑠𝑡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𝑙𝑒𝑎𝑠𝑡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𝑜𝑛𝑐𝑒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𝑎𝑓𝑡𝑒𝑟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𝑙𝑒𝑎𝑠𝑡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𝑜𝑛𝑐𝑒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𝑎𝑓𝑡𝑒𝑟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EBE1B0-3876-B88F-3D15-C2B9165D8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88" y="471969"/>
                <a:ext cx="12296775" cy="40420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079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E6962-9ED4-55EA-AA24-7F171D44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4ACB7D-ED80-2E02-5B0E-537BD2158D20}"/>
              </a:ext>
            </a:extLst>
          </p:cNvPr>
          <p:cNvSpPr txBox="1"/>
          <p:nvPr/>
        </p:nvSpPr>
        <p:spPr>
          <a:xfrm>
            <a:off x="270588" y="102637"/>
            <a:ext cx="190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percolate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7E339A-6EBC-2062-CF31-04B0C9AB5557}"/>
                  </a:ext>
                </a:extLst>
              </p:cNvPr>
              <p:cNvSpPr txBox="1"/>
              <p:nvPr/>
            </p:nvSpPr>
            <p:spPr>
              <a:xfrm>
                <a:off x="407223" y="703196"/>
                <a:ext cx="12296775" cy="2240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eqArr>
                                                  <m:eqArrPr>
                                                    <m:ctrlPr>
                                                      <a:rPr lang="en-US" b="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eqArrPr>
                                                  <m:e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(1−2)&lt;(</m:t>
                                                        </m:r>
                                                        <m: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0−2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)</m:t>
                                                        </m:r>
                                                      </m:e>
                                                    </m:d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0−2)&lt;(1−2)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𝑜𝑟</m:t>
                                                    </m:r>
                                                  </m:e>
                                                  <m:e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(1−2)&lt;(0−1)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</m:e>
                                                    </m:d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(0−1)&lt;(1−2)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eqArr>
                                              </m:e>
                                            </m:eqArr>
                                          </m:e>
                                        </m:eqArr>
                                      </m: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or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(0−2)&lt;(0−1)</m:t>
                                                </m:r>
                                              </m:e>
                                            </m:d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0−1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)&lt;(</m:t>
                                                </m:r>
                                                <m: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0−2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</m:eqAr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𝑜𝑟</m:t>
                                        </m:r>
                                      </m: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0−1</m:t>
                                            </m:r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0−2</m:t>
                                            </m:r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1−2</m:t>
                                            </m:r>
                                          </m:e>
                                        </m:d>
                                      </m:e>
                                    </m:eqArr>
                                  </m:e>
                                </m:d>
                              </m:e>
                            </m:eqArr>
                          </m:e>
                        </m:eqAr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)&lt;(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)&lt;(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0−1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0−2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7E339A-6EBC-2062-CF31-04B0C9AB5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23" y="703196"/>
                <a:ext cx="12296775" cy="2240100"/>
              </a:xfrm>
              <a:prstGeom prst="rect">
                <a:avLst/>
              </a:prstGeom>
              <a:blipFill>
                <a:blip r:embed="rId2"/>
                <a:stretch>
                  <a:fillRect b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178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E88144-A42F-94D2-2154-1A4B91D7D27B}"/>
              </a:ext>
            </a:extLst>
          </p:cNvPr>
          <p:cNvSpPr txBox="1"/>
          <p:nvPr/>
        </p:nvSpPr>
        <p:spPr>
          <a:xfrm>
            <a:off x="264368" y="1721498"/>
            <a:ext cx="445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Percolation from 0 to 1 (4 robots)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EB46F2-F403-A977-B642-CA2989F97EED}"/>
                  </a:ext>
                </a:extLst>
              </p:cNvPr>
              <p:cNvSpPr txBox="1"/>
              <p:nvPr/>
            </p:nvSpPr>
            <p:spPr>
              <a:xfrm>
                <a:off x="1139904" y="2598993"/>
                <a:ext cx="11541977" cy="1707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1</m:t>
                                          </m:r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𝑜𝑟</m:t>
                                      </m:r>
                                    </m:e>
                                    <m:e>
                                      <m:d>
                                        <m:d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2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2</m:t>
                                          </m:r>
                                        </m:e>
                                      </m:d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2)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(3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2) 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(3 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0) 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3)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(2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3)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(2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0) </m:t>
                                              </m:r>
                                            </m:e>
                                          </m:d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EB46F2-F403-A977-B642-CA2989F97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904" y="2598993"/>
                <a:ext cx="11541977" cy="1707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86CBF38-0393-E401-9A91-F657B6B956F8}"/>
              </a:ext>
            </a:extLst>
          </p:cNvPr>
          <p:cNvSpPr txBox="1"/>
          <p:nvPr/>
        </p:nvSpPr>
        <p:spPr>
          <a:xfrm>
            <a:off x="9854694" y="2598993"/>
            <a:ext cx="16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 length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5A80FA-9326-1580-5530-1039C8D3DFE8}"/>
              </a:ext>
            </a:extLst>
          </p:cNvPr>
          <p:cNvSpPr txBox="1"/>
          <p:nvPr/>
        </p:nvSpPr>
        <p:spPr>
          <a:xfrm>
            <a:off x="9854694" y="3152992"/>
            <a:ext cx="16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 length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26DFA-4354-38C8-B2B0-9BC579FC8153}"/>
              </a:ext>
            </a:extLst>
          </p:cNvPr>
          <p:cNvSpPr txBox="1"/>
          <p:nvPr/>
        </p:nvSpPr>
        <p:spPr>
          <a:xfrm>
            <a:off x="9854694" y="3729720"/>
            <a:ext cx="16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 length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CA5260-D227-6072-8A09-8F93B5A80EBA}"/>
                  </a:ext>
                </a:extLst>
              </p:cNvPr>
              <p:cNvSpPr txBox="1"/>
              <p:nvPr/>
            </p:nvSpPr>
            <p:spPr>
              <a:xfrm>
                <a:off x="264368" y="223935"/>
                <a:ext cx="6379028" cy="540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Number of path from </a:t>
                </a:r>
                <a:r>
                  <a:rPr lang="en-US" dirty="0" err="1"/>
                  <a:t>i</a:t>
                </a:r>
                <a:r>
                  <a:rPr lang="en-US" dirty="0"/>
                  <a:t> to j with length 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CA5260-D227-6072-8A09-8F93B5A80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68" y="223935"/>
                <a:ext cx="6379028" cy="540661"/>
              </a:xfrm>
              <a:prstGeom prst="rect">
                <a:avLst/>
              </a:prstGeom>
              <a:blipFill>
                <a:blip r:embed="rId3"/>
                <a:stretch>
                  <a:fillRect l="-764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864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51E640-C70E-9518-0547-6DAA4C1B23F2}"/>
              </a:ext>
            </a:extLst>
          </p:cNvPr>
          <p:cNvSpPr txBox="1"/>
          <p:nvPr/>
        </p:nvSpPr>
        <p:spPr>
          <a:xfrm>
            <a:off x="318783" y="552272"/>
            <a:ext cx="445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Single source (0) percolation (4 robot)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BB6BBA-7A08-6B9F-7F5C-76B02796863E}"/>
                  </a:ext>
                </a:extLst>
              </p:cNvPr>
              <p:cNvSpPr txBox="1"/>
              <p:nvPr/>
            </p:nvSpPr>
            <p:spPr>
              <a:xfrm>
                <a:off x="1341273" y="1022971"/>
                <a:ext cx="9136230" cy="5490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1</m:t>
                                          </m:r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𝑜𝑟</m:t>
                                      </m:r>
                                    </m: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2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2</m:t>
                                          </m:r>
                                        </m:e>
                                      </m:d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2)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(3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2)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(3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0) </m:t>
                                              </m:r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3)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(2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3)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(2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0) </m:t>
                                              </m:r>
                                            </m:e>
                                          </m:d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2</m:t>
                                          </m:r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𝑜𝑟</m:t>
                                      </m:r>
                                    </m: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2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1</m:t>
                                          </m:r>
                                        </m:e>
                                      </m:d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2)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(3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1)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(3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0) </m:t>
                                              </m:r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3)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3)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0) </m:t>
                                              </m:r>
                                            </m:e>
                                          </m:d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</m:t>
                                          </m:r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𝑜𝑟</m:t>
                                      </m:r>
                                    </m: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1</m:t>
                                          </m:r>
                                        </m:e>
                                      </m:d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3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𝑙𝑒𝑎𝑠𝑡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𝑜𝑛𝑐𝑒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𝑎𝑓𝑡𝑒𝑟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0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𝑚𝑒𝑡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2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or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2)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(3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1)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(3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0) </m:t>
                                              </m:r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(2 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3)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𝑙𝑒𝑎𝑠𝑡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𝑜𝑛𝑐𝑒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3)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𝑎𝑓𝑡𝑒𝑟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(1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𝑚𝑒𝑡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0) </m:t>
                                              </m:r>
                                            </m:e>
                                          </m:d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BB6BBA-7A08-6B9F-7F5C-76B027968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273" y="1022971"/>
                <a:ext cx="9136230" cy="5490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414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D7B385-4EA4-239E-6E66-446C14E2C017}"/>
                  </a:ext>
                </a:extLst>
              </p:cNvPr>
              <p:cNvSpPr txBox="1"/>
              <p:nvPr/>
            </p:nvSpPr>
            <p:spPr>
              <a:xfrm>
                <a:off x="-399738" y="969127"/>
                <a:ext cx="6096000" cy="4919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eqArr>
                                        <m:eqArrPr>
                                          <m:ctrlP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0−1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0−2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0−3</m:t>
                                                  </m:r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  <m: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or</m:t>
                                                      </m:r>
                                                      <m: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1−2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eqAr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𝑜𝑟</m:t>
                                                  </m: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</m:e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𝑜𝑟</m:t>
                                                      </m:r>
                                                    </m:e>
                                                    <m:e>
                                                      <m:eqArr>
                                                        <m:eqArr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eqArr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1−2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0−1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</m:t>
                                                                  </m:r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−</m:t>
                                                                  </m:r>
                                                                  <m: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3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0−1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 </m:t>
                                                          </m:r>
                                                        </m:e>
                                                      </m:eqArr>
                                                    </m:e>
                                                  </m:eqArr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D7B385-4EA4-239E-6E66-446C14E2C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9738" y="969127"/>
                <a:ext cx="6096000" cy="4919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E0C20-8F82-A32D-0FF6-6DE20A1ED03C}"/>
                  </a:ext>
                </a:extLst>
              </p:cNvPr>
              <p:cNvSpPr txBox="1"/>
              <p:nvPr/>
            </p:nvSpPr>
            <p:spPr>
              <a:xfrm>
                <a:off x="5321508" y="644577"/>
                <a:ext cx="2413417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Cayley's formula:</a:t>
                </a:r>
              </a:p>
              <a:p>
                <a:br>
                  <a:rPr lang="en-US" dirty="0"/>
                </a:br>
                <a:r>
                  <a:rPr lang="en-US" dirty="0"/>
                  <a:t>number of path=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E0C20-8F82-A32D-0FF6-6DE20A1ED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508" y="644577"/>
                <a:ext cx="2413417" cy="946991"/>
              </a:xfrm>
              <a:prstGeom prst="rect">
                <a:avLst/>
              </a:prstGeom>
              <a:blipFill>
                <a:blip r:embed="rId3"/>
                <a:stretch>
                  <a:fillRect l="-2273" t="-3226" b="-8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886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DF73-4D8B-19C4-885E-82D487AA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D0F1E6-D901-737B-5B0E-81675E388E6E}"/>
                  </a:ext>
                </a:extLst>
              </p:cNvPr>
              <p:cNvSpPr txBox="1"/>
              <p:nvPr/>
            </p:nvSpPr>
            <p:spPr>
              <a:xfrm>
                <a:off x="555632" y="1202964"/>
                <a:ext cx="10586896" cy="4919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eqArr>
                                        <m:eqArrPr>
                                          <m:ctrlP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0−1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0−2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0−3</m:t>
                                                  </m:r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  <m: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or</m:t>
                                                      </m:r>
                                                      <m: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1−2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eqAr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𝑜𝑟</m:t>
                                                  </m: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</m:e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𝑜𝑟</m:t>
                                                      </m:r>
                                                    </m:e>
                                                    <m:e>
                                                      <m:eqArr>
                                                        <m:eqArr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eqArr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1−2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0−1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</m:t>
                                                                  </m:r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−</m:t>
                                                                  </m:r>
                                                                  <m: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3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0−1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 </m:t>
                                                          </m:r>
                                                        </m:e>
                                                      </m:eqArr>
                                                    </m:e>
                                                  </m:eqArr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</m:eqArr>
                          <m:r>
                            <m:rPr>
                              <m:sty m:val="p"/>
                            </m:rP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eqArr>
                            <m:eqArr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eqArr>
                                        <m:eqArrPr>
                                          <m:ctrlP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0−1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1−2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  <m: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or</m:t>
                                                      </m:r>
                                                      <m: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1−2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1−2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eqAr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𝑜𝑟</m:t>
                                                  </m: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</m:e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𝑜𝑟</m:t>
                                                      </m:r>
                                                    </m:e>
                                                    <m:e>
                                                      <m:eqArr>
                                                        <m:eqArr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eqArr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0−2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0−1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0−3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0−1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 </m:t>
                                                          </m:r>
                                                        </m:e>
                                                      </m:eqArr>
                                                    </m:e>
                                                  </m:eqArr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</m:eqArr>
                          <m:r>
                            <m:rPr>
                              <m:sty m:val="p"/>
                            </m:rP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eqArr>
                            <m:eqArr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eqArr>
                                        <m:eqArrPr>
                                          <m:ctrlP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n-US" sz="100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1−2)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0−2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  <m: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or</m:t>
                                                      </m:r>
                                                      <m: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0−1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eqAr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𝑜𝑟</m:t>
                                                  </m: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</m:t>
                                                              </m:r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</m:e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𝑜𝑟</m:t>
                                                      </m:r>
                                                    </m:e>
                                                    <m:e>
                                                      <m:eqArr>
                                                        <m:eqArr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eqArr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0−1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1−2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</m:t>
                                                                  </m:r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−</m:t>
                                                                  </m:r>
                                                                  <m: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3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1−2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 </m:t>
                                                          </m:r>
                                                        </m:e>
                                                      </m:eqArr>
                                                    </m:e>
                                                  </m:eqArr>
                                                </m:e>
                                              </m:eqArr>
                                            </m:e>
                                            <m:e>
                                              <m:r>
                                                <a:rPr lang="en-US" sz="100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eqArr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</m:eqArr>
                          <m:r>
                            <m:rPr>
                              <m:sty m:val="p"/>
                            </m:rP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eqArr>
                            <m:eqArr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eqArr>
                                        <m:eqArrPr>
                                          <m:ctrlP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1−3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2−3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0−3</m:t>
                                                  </m:r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0−1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1−2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  <m:t>or</m:t>
                                              </m: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  <m:r>
                                                    <a:rPr lang="en-US" sz="100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0−1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𝑜𝑟</m:t>
                                          </m: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1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or</m:t>
                                                  </m:r>
                                                </m: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1−2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&lt;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00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1−3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00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0−3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or</m:t>
                                                      </m:r>
                                                      <m:r>
                                                        <a:rPr lang="en-US" sz="1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1−2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2−3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2−3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eqArr>
                                            </m:e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r>
                                                    <a:rPr lang="en-US" sz="1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𝑜𝑟</m:t>
                                                  </m: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0−1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0−2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&lt;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00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0−3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d>
                                                    </m:e>
                                                    <m:e>
                                                      <m:r>
                                                        <a:rPr lang="en-US" sz="1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𝑜𝑟</m:t>
                                                      </m:r>
                                                    </m:e>
                                                    <m:e>
                                                      <m:eqArr>
                                                        <m:eqArrPr>
                                                          <m:ctrlPr>
                                                            <a:rPr lang="en-US" sz="1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eqArr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1−2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1−3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0−1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en-US" sz="1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&lt;</m:t>
                                                              </m:r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en-US" sz="10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en-US" sz="100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1−3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e>
                                                          </m:d>
                                                          <m:r>
                                                            <a:rPr lang="en-US" sz="10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 </m:t>
                                                          </m:r>
                                                        </m:e>
                                                      </m:eqArr>
                                                    </m:e>
                                                  </m:eqArr>
                                                </m:e>
                                              </m:eqArr>
                                            </m:e>
                                          </m:eqArr>
                                        </m:e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eqArr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D0F1E6-D901-737B-5B0E-81675E388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32" y="1202964"/>
                <a:ext cx="10586896" cy="4919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EBC11E2-D33E-F74C-B196-0B4821D34E88}"/>
              </a:ext>
            </a:extLst>
          </p:cNvPr>
          <p:cNvSpPr txBox="1"/>
          <p:nvPr/>
        </p:nvSpPr>
        <p:spPr>
          <a:xfrm>
            <a:off x="555632" y="337381"/>
            <a:ext cx="336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percolation (4-robot)</a:t>
            </a:r>
          </a:p>
        </p:txBody>
      </p:sp>
    </p:spTree>
    <p:extLst>
      <p:ext uri="{BB962C8B-B14F-4D97-AF65-F5344CB8AC3E}">
        <p14:creationId xmlns:p14="http://schemas.microsoft.com/office/powerpoint/2010/main" val="2240240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09E78E-7B73-DD89-30EF-2E9A5ED2F82B}"/>
                  </a:ext>
                </a:extLst>
              </p:cNvPr>
              <p:cNvSpPr txBox="1"/>
              <p:nvPr/>
            </p:nvSpPr>
            <p:spPr>
              <a:xfrm>
                <a:off x="642594" y="212779"/>
                <a:ext cx="2177591" cy="375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09E78E-7B73-DD89-30EF-2E9A5ED2F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94" y="212779"/>
                <a:ext cx="2177591" cy="375872"/>
              </a:xfrm>
              <a:prstGeom prst="rect">
                <a:avLst/>
              </a:prstGeom>
              <a:blipFill>
                <a:blip r:embed="rId2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AED8C06-AA9F-2D64-AAC3-8BCB3FA8A215}"/>
              </a:ext>
            </a:extLst>
          </p:cNvPr>
          <p:cNvSpPr txBox="1"/>
          <p:nvPr/>
        </p:nvSpPr>
        <p:spPr>
          <a:xfrm>
            <a:off x="604886" y="2228671"/>
            <a:ext cx="44305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Temporal connectivity</a:t>
            </a:r>
          </a:p>
          <a:p>
            <a:r>
              <a:rPr lang="en-US" dirty="0"/>
              <a:t>Markov's inequality</a:t>
            </a:r>
          </a:p>
          <a:p>
            <a:br>
              <a:rPr lang="en-US" dirty="0"/>
            </a:br>
            <a:r>
              <a:rPr lang="en-US" dirty="0"/>
              <a:t>epidemic modeling </a:t>
            </a:r>
          </a:p>
          <a:p>
            <a:r>
              <a:rPr lang="en-US" dirty="0"/>
              <a:t>Mean-field theory</a:t>
            </a:r>
          </a:p>
          <a:p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DD1F7-7EF7-D7EB-88C0-4949F1978051}"/>
                  </a:ext>
                </a:extLst>
              </p:cNvPr>
              <p:cNvSpPr txBox="1"/>
              <p:nvPr/>
            </p:nvSpPr>
            <p:spPr>
              <a:xfrm>
                <a:off x="850389" y="957583"/>
                <a:ext cx="1419491" cy="533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!≈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πn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DD1F7-7EF7-D7EB-88C0-4949F1978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89" y="957583"/>
                <a:ext cx="1419491" cy="5332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76A6A9-4552-C180-4A8C-709E275EF05D}"/>
                  </a:ext>
                </a:extLst>
              </p:cNvPr>
              <p:cNvSpPr txBox="1"/>
              <p:nvPr/>
            </p:nvSpPr>
            <p:spPr>
              <a:xfrm>
                <a:off x="3673105" y="400715"/>
                <a:ext cx="3147420" cy="375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76A6A9-4552-C180-4A8C-709E275EF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105" y="400715"/>
                <a:ext cx="3147420" cy="37587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83DBE4-0A55-6A98-3451-48D3A60EA1BF}"/>
                  </a:ext>
                </a:extLst>
              </p:cNvPr>
              <p:cNvSpPr txBox="1"/>
              <p:nvPr/>
            </p:nvSpPr>
            <p:spPr>
              <a:xfrm>
                <a:off x="4368800" y="1889760"/>
                <a:ext cx="4765040" cy="652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𝑛𝑝</m:t>
                          </m:r>
                        </m:sup>
                      </m:sSup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83DBE4-0A55-6A98-3451-48D3A60E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1889760"/>
                <a:ext cx="4765040" cy="6521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43E3422-6C46-9264-1FCE-19B3A00D42B5}"/>
              </a:ext>
            </a:extLst>
          </p:cNvPr>
          <p:cNvSpPr txBox="1"/>
          <p:nvPr/>
        </p:nvSpPr>
        <p:spPr>
          <a:xfrm>
            <a:off x="8392160" y="2052320"/>
            <a:ext cx="233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Poison approximation</a:t>
            </a:r>
          </a:p>
          <a:p>
            <a:r>
              <a:rPr lang="en-US" dirty="0"/>
              <a:t>(big n, small p)</a:t>
            </a:r>
          </a:p>
        </p:txBody>
      </p:sp>
    </p:spTree>
    <p:extLst>
      <p:ext uri="{BB962C8B-B14F-4D97-AF65-F5344CB8AC3E}">
        <p14:creationId xmlns:p14="http://schemas.microsoft.com/office/powerpoint/2010/main" val="374008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8644</TotalTime>
  <Words>604</Words>
  <Application>Microsoft Office PowerPoint</Application>
  <PresentationFormat>Widescreen</PresentationFormat>
  <Paragraphs>117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Yat Chun Wong</dc:creator>
  <cp:lastModifiedBy>Benjamin Yat Chun Wong</cp:lastModifiedBy>
  <cp:revision>46</cp:revision>
  <dcterms:created xsi:type="dcterms:W3CDTF">2025-12-03T23:02:01Z</dcterms:created>
  <dcterms:modified xsi:type="dcterms:W3CDTF">2025-12-25T01:31:33Z</dcterms:modified>
</cp:coreProperties>
</file>