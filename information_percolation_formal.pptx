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9" r:id="rId4"/>
    <p:sldId id="258" r:id="rId5"/>
    <p:sldId id="260" r:id="rId6"/>
    <p:sldId id="261" r:id="rId7"/>
    <p:sldId id="275" r:id="rId8"/>
    <p:sldId id="262" r:id="rId9"/>
    <p:sldId id="263" r:id="rId10"/>
    <p:sldId id="264" r:id="rId11"/>
    <p:sldId id="270" r:id="rId12"/>
    <p:sldId id="271" r:id="rId13"/>
    <p:sldId id="273" r:id="rId14"/>
    <p:sldId id="274" r:id="rId15"/>
    <p:sldId id="277" r:id="rId16"/>
    <p:sldId id="279" r:id="rId17"/>
    <p:sldId id="280" r:id="rId18"/>
    <p:sldId id="281" r:id="rId19"/>
    <p:sldId id="282" r:id="rId20"/>
    <p:sldId id="286" r:id="rId21"/>
    <p:sldId id="305" r:id="rId22"/>
    <p:sldId id="311" r:id="rId23"/>
    <p:sldId id="315" r:id="rId24"/>
    <p:sldId id="316" r:id="rId25"/>
    <p:sldId id="314" r:id="rId26"/>
    <p:sldId id="313" r:id="rId27"/>
    <p:sldId id="31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8151F-50A7-4BF5-9792-7C19A57D58C1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40556-FE85-4FC4-87D4-6607A2F152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72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40556-FE85-4FC4-87D4-6607A2F152B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999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40556-FE85-4FC4-87D4-6607A2F152B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157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40556-FE85-4FC4-87D4-6607A2F152B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25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40556-FE85-4FC4-87D4-6607A2F152B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62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D7E4-DE7E-4D34-E133-EB5B72225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2DF839-8ACC-36A3-0746-BCFD47991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4EF48-984E-B35B-6F15-39B319BB8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E4DC2-EDD6-4EBD-8EF3-8934B6597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8BDF8-2A92-7276-CF18-1876E69B2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025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E0AB0-A92E-EF55-8172-345153E5F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CEEE4-629A-C36E-F445-C6323E88C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F4591-5DEB-13CB-9CAE-0942DEA70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FA37E-1E0A-C427-92E3-3D9C6DEF2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BBA6A-936D-ADF6-2B32-870384978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573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92BD0-FC28-5F67-0280-E8A5A427A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83543-F12A-7C55-D925-A3AF9FC90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8BA57-1618-7667-7AC7-3CD672C74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4694D-F4E7-A1FB-A68C-19302D0C0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7A39E-F892-551B-8F9B-4EC251E55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4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62E9-34B9-7C06-BBC7-116DCF5A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70CED-46C4-FB91-2B7B-C7CA59A3D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F61EF-FFF0-1FA8-83A4-C843D2054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81069-A2C9-4D07-389A-6FFD774C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3E668-4D2B-BDCA-D70C-766FDAEE2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2C1B9-3D8B-E381-E948-D9B6FA27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48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3EFFB-3BD5-7DE5-F03F-3AB2428B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1C678-11C0-8096-5615-3B19DB8D0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4C9F1E-17BB-3232-8D9D-9E8B2F3FB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2D9E9F-D198-C4E5-2522-307854097A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D2C0D8-E6D4-8B42-E174-80E1791B6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BB2095-2D9D-884B-3A49-22D072D7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093B32-280F-DBDA-9D37-E587755B7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53E2DF-4EFE-74F0-E2DD-33F502F7E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5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F6487-1B55-2286-2B02-0708C6615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846ADA-3CC9-A7EE-8ABB-06C27816C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05A2EB-ACEE-B9DE-3254-63850862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A5CD5-B5DD-059D-FD90-339728AF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198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52D7AD-2C13-E604-A3C3-91B87CFE8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5A0533-98E8-8F1B-DF5D-0B8BF4AFB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7F050-C850-FBD0-995C-29A00FCA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3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CB217-BD5E-F1AF-6B44-1E0FA1066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510AE-13F4-B913-6D10-D7A74669A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62831-361B-F336-0A90-62F9C78E6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59695-5DDD-E5B8-1E17-A19193BAD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D6AE0-D59E-7080-FB6F-9E6C1244A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393CB-7BE8-6CDC-7898-8E456ABCB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0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A8237-064B-FDD1-0E71-94BA2F3D3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0F294A-C44E-C6D2-0E3F-0895B3CB6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D95A0-2DC4-040F-7D73-A275796BA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F0E2D-A01A-D068-6EB2-7455F21D2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B7E1A-B4E2-36E2-C166-910BC0A57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7E333-559C-959E-09B0-D2928D6C9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83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28602-7C62-59AD-BED8-E5D3FD72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06D98-0CBC-35F1-5DF7-5DB4625C9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6A7C9-F1A9-10F6-7362-E830A7D20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B1A26-864D-37F5-819D-DB1837662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A39FE-3343-41C8-588A-38797F3D8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529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EB70DF-1B50-46B3-677D-492CAE7A18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F15FD-283D-9582-2201-E14FD01BD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C9321-02B3-A70C-FBC7-21224EF5B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242-746B-4E4C-9541-5926FBFBFDD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2FC22-C80C-0031-2CF7-8AB4652B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E570F-C08A-5D01-6A7F-D18BFB92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9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752C7C-586C-5B19-2B74-4891663DD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02B09-8382-C752-E653-E83560296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B8C87-AA60-7B20-8751-592E43E5FD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3A4242-746B-4E4C-9541-5926FBFBFDD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FD336-7680-0538-A4FB-CF5A15934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1B43F-0830-AFEE-33F9-CA0AD9100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CFF54-B389-49F5-A93E-9CDA8F1A0C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30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15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18" Type="http://schemas.openxmlformats.org/officeDocument/2006/relationships/image" Target="../media/image163.png"/><Relationship Id="rId3" Type="http://schemas.openxmlformats.org/officeDocument/2006/relationships/image" Target="../media/image148.png"/><Relationship Id="rId21" Type="http://schemas.openxmlformats.org/officeDocument/2006/relationships/image" Target="../media/image166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17" Type="http://schemas.openxmlformats.org/officeDocument/2006/relationships/image" Target="../media/image162.png"/><Relationship Id="rId2" Type="http://schemas.openxmlformats.org/officeDocument/2006/relationships/image" Target="../media/image147.png"/><Relationship Id="rId16" Type="http://schemas.openxmlformats.org/officeDocument/2006/relationships/image" Target="../media/image161.png"/><Relationship Id="rId20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24" Type="http://schemas.openxmlformats.org/officeDocument/2006/relationships/image" Target="../media/image169.png"/><Relationship Id="rId5" Type="http://schemas.openxmlformats.org/officeDocument/2006/relationships/image" Target="../media/image150.png"/><Relationship Id="rId15" Type="http://schemas.openxmlformats.org/officeDocument/2006/relationships/image" Target="../media/image160.png"/><Relationship Id="rId23" Type="http://schemas.openxmlformats.org/officeDocument/2006/relationships/image" Target="../media/image168.png"/><Relationship Id="rId10" Type="http://schemas.openxmlformats.org/officeDocument/2006/relationships/image" Target="../media/image155.png"/><Relationship Id="rId19" Type="http://schemas.openxmlformats.org/officeDocument/2006/relationships/image" Target="../media/image164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Relationship Id="rId22" Type="http://schemas.openxmlformats.org/officeDocument/2006/relationships/image" Target="../media/image16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12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11" Type="http://schemas.openxmlformats.org/officeDocument/2006/relationships/image" Target="../media/image179.png"/><Relationship Id="rId5" Type="http://schemas.openxmlformats.org/officeDocument/2006/relationships/image" Target="../media/image173.png"/><Relationship Id="rId10" Type="http://schemas.openxmlformats.org/officeDocument/2006/relationships/image" Target="../media/image178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82.png"/><Relationship Id="rId7" Type="http://schemas.openxmlformats.org/officeDocument/2006/relationships/image" Target="../media/image186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5" Type="http://schemas.openxmlformats.org/officeDocument/2006/relationships/image" Target="../media/image184.png"/><Relationship Id="rId4" Type="http://schemas.openxmlformats.org/officeDocument/2006/relationships/image" Target="../media/image18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0.png"/><Relationship Id="rId3" Type="http://schemas.openxmlformats.org/officeDocument/2006/relationships/image" Target="../media/image1700.png"/><Relationship Id="rId7" Type="http://schemas.openxmlformats.org/officeDocument/2006/relationships/image" Target="../media/image1740.png"/><Relationship Id="rId12" Type="http://schemas.openxmlformats.org/officeDocument/2006/relationships/image" Target="../media/image179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0.png"/><Relationship Id="rId11" Type="http://schemas.openxmlformats.org/officeDocument/2006/relationships/image" Target="../media/image1780.png"/><Relationship Id="rId5" Type="http://schemas.openxmlformats.org/officeDocument/2006/relationships/image" Target="../media/image1720.png"/><Relationship Id="rId10" Type="http://schemas.openxmlformats.org/officeDocument/2006/relationships/image" Target="../media/image1770.png"/><Relationship Id="rId4" Type="http://schemas.openxmlformats.org/officeDocument/2006/relationships/image" Target="../media/image1710.png"/><Relationship Id="rId9" Type="http://schemas.openxmlformats.org/officeDocument/2006/relationships/image" Target="../media/image176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0.png"/><Relationship Id="rId3" Type="http://schemas.openxmlformats.org/officeDocument/2006/relationships/image" Target="../media/image1681.png"/><Relationship Id="rId7" Type="http://schemas.openxmlformats.org/officeDocument/2006/relationships/image" Target="../media/image18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0.png"/><Relationship Id="rId11" Type="http://schemas.openxmlformats.org/officeDocument/2006/relationships/image" Target="../media/image1860.png"/><Relationship Id="rId5" Type="http://schemas.openxmlformats.org/officeDocument/2006/relationships/image" Target="../media/image1800.png"/><Relationship Id="rId10" Type="http://schemas.openxmlformats.org/officeDocument/2006/relationships/image" Target="../media/image1850.png"/><Relationship Id="rId4" Type="http://schemas.openxmlformats.org/officeDocument/2006/relationships/image" Target="../media/image1690.png"/><Relationship Id="rId9" Type="http://schemas.openxmlformats.org/officeDocument/2006/relationships/image" Target="../media/image184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FD6BF-391B-68AB-709C-D6A3F0A631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Percolation of information in an ergodic robotic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BF84A-E5F7-F7E5-4C7F-2C2185890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50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466B-964A-67C1-2BBA-E169C42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E8520-FF83-3DF4-FABF-012B2EDD1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80" y="1571625"/>
            <a:ext cx="7462520" cy="4351338"/>
          </a:xfrm>
        </p:spPr>
        <p:txBody>
          <a:bodyPr/>
          <a:lstStyle/>
          <a:p>
            <a:r>
              <a:rPr lang="en-US" b="1" u="sng" dirty="0"/>
              <a:t>Ergodicity</a:t>
            </a:r>
            <a:r>
              <a:rPr lang="en-US" dirty="0"/>
              <a:t>: The total visitation frequency of each region is proportional to the </a:t>
            </a:r>
            <a:r>
              <a:rPr lang="en-US" b="1" dirty="0"/>
              <a:t>noise</a:t>
            </a:r>
            <a:r>
              <a:rPr lang="en-US" dirty="0"/>
              <a:t> of observation</a:t>
            </a:r>
          </a:p>
          <a:p>
            <a:r>
              <a:rPr lang="en-US" dirty="0"/>
              <a:t>Swarm ergodicity requires all robots to have the same information about the regions </a:t>
            </a:r>
          </a:p>
          <a:p>
            <a:pPr lvl="1"/>
            <a:r>
              <a:rPr lang="en-US" dirty="0"/>
              <a:t>Previously done by central information processing</a:t>
            </a:r>
          </a:p>
          <a:p>
            <a:pPr lvl="1"/>
            <a:r>
              <a:rPr lang="en-US" dirty="0"/>
              <a:t>Decentralize by locally sharing collected information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42CE9-C45D-E7C5-F0A3-A119CE3FD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574" y="3137557"/>
            <a:ext cx="3994426" cy="33553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E017E7-AECE-AFB1-B6B7-2B61A42A3023}"/>
              </a:ext>
            </a:extLst>
          </p:cNvPr>
          <p:cNvSpPr txBox="1"/>
          <p:nvPr/>
        </p:nvSpPr>
        <p:spPr>
          <a:xfrm>
            <a:off x="924560" y="5445760"/>
            <a:ext cx="5394960" cy="369332"/>
          </a:xfrm>
          <a:prstGeom prst="rect">
            <a:avLst/>
          </a:prstGeom>
          <a:noFill/>
          <a:ln w="38100">
            <a:solidFill>
              <a:srgbClr val="9966FF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How to </a:t>
            </a:r>
            <a:r>
              <a:rPr lang="en-US" b="1"/>
              <a:t>maintain ergodicity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96584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58718-E677-7DDD-3533-C8D42E089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7044C4-D3A4-387A-5582-D7D094CB3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080" y="182465"/>
            <a:ext cx="3994426" cy="33553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56366E6-C2A0-42F9-B2A5-9B371D99E5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693" y="1643697"/>
                <a:ext cx="7462520" cy="484917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Each region has a state to be estimated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The robots can make a noisy observation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when they transition to the region </a:t>
                </a:r>
              </a:p>
              <a:p>
                <a:r>
                  <a:rPr lang="en-US" dirty="0"/>
                  <a:t>The estimation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done by recursive Baye’s law</a:t>
                </a:r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the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robot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starts with the same prior and knows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all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then all robot has the same posterior</a:t>
                </a:r>
              </a:p>
              <a:p>
                <a:r>
                  <a:rPr lang="en-US" dirty="0"/>
                  <a:t>Mean and variance can be recovered from the posterior 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56366E6-C2A0-42F9-B2A5-9B371D99E5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693" y="1643697"/>
                <a:ext cx="7462520" cy="4849178"/>
              </a:xfrm>
              <a:blipFill>
                <a:blip r:embed="rId3"/>
                <a:stretch>
                  <a:fillRect l="-1224" t="-2642" r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673DAA31-C47A-D35B-0113-AE4F8D0048AB}"/>
              </a:ext>
            </a:extLst>
          </p:cNvPr>
          <p:cNvGrpSpPr/>
          <p:nvPr/>
        </p:nvGrpSpPr>
        <p:grpSpPr>
          <a:xfrm>
            <a:off x="2019687" y="3537783"/>
            <a:ext cx="4261171" cy="1052387"/>
            <a:chOff x="2019687" y="3537783"/>
            <a:chExt cx="4261171" cy="10523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9780D09-CC02-5B02-EAC9-6D4B8A7387A3}"/>
                    </a:ext>
                  </a:extLst>
                </p:cNvPr>
                <p:cNvSpPr txBox="1"/>
                <p:nvPr/>
              </p:nvSpPr>
              <p:spPr>
                <a:xfrm>
                  <a:off x="2019687" y="3879463"/>
                  <a:ext cx="4058803" cy="7107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+1]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P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])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9780D09-CC02-5B02-EAC9-6D4B8A7387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9687" y="3879463"/>
                  <a:ext cx="4058803" cy="71070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1CDEBE6-C84D-C999-FC14-3E88F6BB6D21}"/>
                </a:ext>
              </a:extLst>
            </p:cNvPr>
            <p:cNvSpPr txBox="1"/>
            <p:nvPr/>
          </p:nvSpPr>
          <p:spPr>
            <a:xfrm>
              <a:off x="2249316" y="3710139"/>
              <a:ext cx="1148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posterior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5FE953F-92DF-9AF3-F82C-9BFCDABAC067}"/>
                </a:ext>
              </a:extLst>
            </p:cNvPr>
            <p:cNvSpPr txBox="1"/>
            <p:nvPr/>
          </p:nvSpPr>
          <p:spPr>
            <a:xfrm>
              <a:off x="3812365" y="3537783"/>
              <a:ext cx="1412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Likelihood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457F80-BCD1-DC1E-C40D-5CD3AB0249E6}"/>
                </a:ext>
              </a:extLst>
            </p:cNvPr>
            <p:cNvSpPr txBox="1"/>
            <p:nvPr/>
          </p:nvSpPr>
          <p:spPr>
            <a:xfrm>
              <a:off x="5132778" y="3537783"/>
              <a:ext cx="1148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prior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F03F9415-670E-4F95-74B9-19C1F31425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9191" y="4068286"/>
            <a:ext cx="3206244" cy="208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4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6674-6D5B-7C11-98DC-E249F24E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Protocol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DABFDB-BD17-3E7F-F4E4-12B969D854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Samples can be reduced to </a:t>
                </a:r>
                <a:r>
                  <a:rPr lang="en-US" b="1" i="1" dirty="0"/>
                  <a:t>sufficient statistic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i="1" dirty="0"/>
              </a:p>
              <a:p>
                <a:pPr lvl="1"/>
                <a:r>
                  <a:rPr lang="en-US" dirty="0"/>
                  <a:t>e.g. mean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for gaussian </a:t>
                </a:r>
              </a:p>
              <a:p>
                <a:pPr lvl="1"/>
                <a:r>
                  <a:rPr lang="en-US" dirty="0"/>
                  <a:t>Significantly reduce memory and communication </a:t>
                </a:r>
              </a:p>
              <a:p>
                <a:r>
                  <a:rPr lang="en-US" dirty="0"/>
                  <a:t>Each robot keeps a list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from the other robots </a:t>
                </a:r>
              </a:p>
              <a:p>
                <a:r>
                  <a:rPr lang="en-US" dirty="0"/>
                  <a:t>When they communicate, they acquire the most recent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dirty="0"/>
                  <a:t> in their entire list from each other </a:t>
                </a:r>
              </a:p>
              <a:p>
                <a:r>
                  <a:rPr lang="en-US" dirty="0"/>
                  <a:t>The robots communicate IFF they are in the same region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DABFDB-BD17-3E7F-F4E4-12B969D854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8CF175F-66AE-0D24-A7F6-F809753334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1479680"/>
                  </p:ext>
                </p:extLst>
              </p:nvPr>
            </p:nvGraphicFramePr>
            <p:xfrm>
              <a:off x="7132320" y="4988560"/>
              <a:ext cx="4805679" cy="16606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5360">
                      <a:extLst>
                        <a:ext uri="{9D8B030D-6E8A-4147-A177-3AD203B41FA5}">
                          <a16:colId xmlns:a16="http://schemas.microsoft.com/office/drawing/2014/main" val="2812363086"/>
                        </a:ext>
                      </a:extLst>
                    </a:gridCol>
                    <a:gridCol w="1276773">
                      <a:extLst>
                        <a:ext uri="{9D8B030D-6E8A-4147-A177-3AD203B41FA5}">
                          <a16:colId xmlns:a16="http://schemas.microsoft.com/office/drawing/2014/main" val="4033819008"/>
                        </a:ext>
                      </a:extLst>
                    </a:gridCol>
                    <a:gridCol w="1276773">
                      <a:extLst>
                        <a:ext uri="{9D8B030D-6E8A-4147-A177-3AD203B41FA5}">
                          <a16:colId xmlns:a16="http://schemas.microsoft.com/office/drawing/2014/main" val="3745158107"/>
                        </a:ext>
                      </a:extLst>
                    </a:gridCol>
                    <a:gridCol w="1276773">
                      <a:extLst>
                        <a:ext uri="{9D8B030D-6E8A-4147-A177-3AD203B41FA5}">
                          <a16:colId xmlns:a16="http://schemas.microsoft.com/office/drawing/2014/main" val="860937826"/>
                        </a:ext>
                      </a:extLst>
                    </a:gridCol>
                  </a:tblGrid>
                  <a:tr h="563380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1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3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9379700"/>
                      </a:ext>
                    </a:extLst>
                  </a:tr>
                  <a:tr h="31364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12972263"/>
                      </a:ext>
                    </a:extLst>
                  </a:tr>
                  <a:tr h="31364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4259127"/>
                      </a:ext>
                    </a:extLst>
                  </a:tr>
                  <a:tr h="31364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30383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8CF175F-66AE-0D24-A7F6-F809753334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1479680"/>
                  </p:ext>
                </p:extLst>
              </p:nvPr>
            </p:nvGraphicFramePr>
            <p:xfrm>
              <a:off x="7132320" y="4988560"/>
              <a:ext cx="4805679" cy="16606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75360">
                      <a:extLst>
                        <a:ext uri="{9D8B030D-6E8A-4147-A177-3AD203B41FA5}">
                          <a16:colId xmlns:a16="http://schemas.microsoft.com/office/drawing/2014/main" val="2812363086"/>
                        </a:ext>
                      </a:extLst>
                    </a:gridCol>
                    <a:gridCol w="1276773">
                      <a:extLst>
                        <a:ext uri="{9D8B030D-6E8A-4147-A177-3AD203B41FA5}">
                          <a16:colId xmlns:a16="http://schemas.microsoft.com/office/drawing/2014/main" val="4033819008"/>
                        </a:ext>
                      </a:extLst>
                    </a:gridCol>
                    <a:gridCol w="1276773">
                      <a:extLst>
                        <a:ext uri="{9D8B030D-6E8A-4147-A177-3AD203B41FA5}">
                          <a16:colId xmlns:a16="http://schemas.microsoft.com/office/drawing/2014/main" val="3745158107"/>
                        </a:ext>
                      </a:extLst>
                    </a:gridCol>
                    <a:gridCol w="1276773">
                      <a:extLst>
                        <a:ext uri="{9D8B030D-6E8A-4147-A177-3AD203B41FA5}">
                          <a16:colId xmlns:a16="http://schemas.microsoft.com/office/drawing/2014/main" val="860937826"/>
                        </a:ext>
                      </a:extLst>
                    </a:gridCol>
                  </a:tblGrid>
                  <a:tr h="563380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1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3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93797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143" t="-161667" r="-200476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990" t="-161667" r="-101435" b="-2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6667" t="-161667" r="-952" b="-2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297226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143" t="-261667" r="-200476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990" t="-261667" r="-101435" b="-1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6667" t="-261667" r="-952" b="-1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425912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Robot 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143" t="-361667" r="-200476" b="-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990" t="-361667" r="-101435" b="-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28575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lgDash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6667" t="-361667" r="-952" b="-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30383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9D18C054-FAB2-1E3F-9158-8C54A886E2DE}"/>
              </a:ext>
            </a:extLst>
          </p:cNvPr>
          <p:cNvSpPr/>
          <p:nvPr/>
        </p:nvSpPr>
        <p:spPr>
          <a:xfrm>
            <a:off x="9164320" y="5669280"/>
            <a:ext cx="477520" cy="16256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CE466D0-2582-7F13-4677-6390F8EC989C}"/>
              </a:ext>
            </a:extLst>
          </p:cNvPr>
          <p:cNvSpPr/>
          <p:nvPr/>
        </p:nvSpPr>
        <p:spPr>
          <a:xfrm rot="10800000">
            <a:off x="9164320" y="6014403"/>
            <a:ext cx="477520" cy="16256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1BA75BC5-2532-2098-D2EB-1933E96374BB}"/>
              </a:ext>
            </a:extLst>
          </p:cNvPr>
          <p:cNvSpPr/>
          <p:nvPr/>
        </p:nvSpPr>
        <p:spPr>
          <a:xfrm>
            <a:off x="9164320" y="6390639"/>
            <a:ext cx="477520" cy="162561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16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D2DA-A385-3E27-8A44-6026A5CD5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47081-32A5-3B2C-BB56-B5C2F2D9A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4971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Assume every robot has a fixed initial piece of information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All robot has the same probability distribution of existing in the regions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many time step can we expect all the initial information is shared to every robot?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0A8EAE-090E-8DE8-1C90-F90E19D8E930}"/>
              </a:ext>
            </a:extLst>
          </p:cNvPr>
          <p:cNvSpPr txBox="1"/>
          <p:nvPr/>
        </p:nvSpPr>
        <p:spPr>
          <a:xfrm>
            <a:off x="2255520" y="4870023"/>
            <a:ext cx="7457440" cy="923330"/>
          </a:xfrm>
          <a:prstGeom prst="rect">
            <a:avLst/>
          </a:prstGeom>
          <a:noFill/>
          <a:ln w="28575">
            <a:solidFill>
              <a:srgbClr val="9966FF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Conjecture</a:t>
            </a:r>
            <a:r>
              <a:rPr lang="en-US" dirty="0"/>
              <a:t>: </a:t>
            </a:r>
          </a:p>
          <a:p>
            <a:r>
              <a:rPr lang="en-US" dirty="0"/>
              <a:t>there is a sharp time step where the information is almost certainly shared across the robot network (as the number of robot tends to infinity) </a:t>
            </a:r>
          </a:p>
        </p:txBody>
      </p:sp>
    </p:spTree>
    <p:extLst>
      <p:ext uri="{BB962C8B-B14F-4D97-AF65-F5344CB8AC3E}">
        <p14:creationId xmlns:p14="http://schemas.microsoft.com/office/powerpoint/2010/main" val="3841496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1FD87-15CC-FED9-6113-9646D078D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Pictorial</a:t>
            </a:r>
            <a:r>
              <a:rPr lang="zh-TW" altLang="en-US" dirty="0"/>
              <a:t> </a:t>
            </a:r>
            <a:r>
              <a:rPr lang="en-US" altLang="zh-TW" dirty="0"/>
              <a:t>Representation</a:t>
            </a:r>
            <a:r>
              <a:rPr lang="zh-TW" altLang="en-US" dirty="0"/>
              <a:t> </a:t>
            </a:r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CC6A75B-97D4-CAAC-495C-043C439C80AE}"/>
              </a:ext>
            </a:extLst>
          </p:cNvPr>
          <p:cNvSpPr txBox="1"/>
          <p:nvPr/>
        </p:nvSpPr>
        <p:spPr>
          <a:xfrm>
            <a:off x="491487" y="2137729"/>
            <a:ext cx="1811021" cy="369332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temporal graph</a:t>
            </a:r>
          </a:p>
        </p:txBody>
      </p:sp>
      <p:sp>
        <p:nvSpPr>
          <p:cNvPr id="73" name="Arrow: Bent 72">
            <a:extLst>
              <a:ext uri="{FF2B5EF4-FFF2-40B4-BE49-F238E27FC236}">
                <a16:creationId xmlns:a16="http://schemas.microsoft.com/office/drawing/2014/main" id="{6A75E5E4-A6D6-F0A9-3339-9F3C31343605}"/>
              </a:ext>
            </a:extLst>
          </p:cNvPr>
          <p:cNvSpPr/>
          <p:nvPr/>
        </p:nvSpPr>
        <p:spPr>
          <a:xfrm rot="10800000" flipH="1">
            <a:off x="1707514" y="2519872"/>
            <a:ext cx="457202" cy="443441"/>
          </a:xfrm>
          <a:prstGeom prst="ben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022948-098A-5163-63A0-C4E0227BA097}"/>
              </a:ext>
            </a:extLst>
          </p:cNvPr>
          <p:cNvGrpSpPr/>
          <p:nvPr/>
        </p:nvGrpSpPr>
        <p:grpSpPr>
          <a:xfrm>
            <a:off x="2651760" y="1656260"/>
            <a:ext cx="6502400" cy="5138330"/>
            <a:chOff x="2651760" y="1656260"/>
            <a:chExt cx="6502400" cy="513833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33DE962-1ADB-7558-C265-DF56F8ED42AA}"/>
                </a:ext>
              </a:extLst>
            </p:cNvPr>
            <p:cNvGrpSpPr/>
            <p:nvPr/>
          </p:nvGrpSpPr>
          <p:grpSpPr>
            <a:xfrm>
              <a:off x="8074657" y="2979698"/>
              <a:ext cx="421640" cy="1244600"/>
              <a:chOff x="3355340" y="2382520"/>
              <a:chExt cx="421640" cy="12446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BADCEA5-A7DA-D645-9D86-5A329625D14E}"/>
                  </a:ext>
                </a:extLst>
              </p:cNvPr>
              <p:cNvSpPr/>
              <p:nvPr/>
            </p:nvSpPr>
            <p:spPr>
              <a:xfrm>
                <a:off x="3355340" y="2382520"/>
                <a:ext cx="421640" cy="42164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1E524D73-5256-887B-8FC2-238B25782A8F}"/>
                  </a:ext>
                </a:extLst>
              </p:cNvPr>
              <p:cNvCxnSpPr>
                <a:stCxn id="7" idx="4"/>
              </p:cNvCxnSpPr>
              <p:nvPr/>
            </p:nvCxnSpPr>
            <p:spPr>
              <a:xfrm>
                <a:off x="3566160" y="2804160"/>
                <a:ext cx="0" cy="82296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6C2265E-8EBE-C797-891C-0979300F04ED}"/>
                </a:ext>
              </a:extLst>
            </p:cNvPr>
            <p:cNvGrpSpPr/>
            <p:nvPr/>
          </p:nvGrpSpPr>
          <p:grpSpPr>
            <a:xfrm>
              <a:off x="5377180" y="2979698"/>
              <a:ext cx="421640" cy="1244600"/>
              <a:chOff x="3355340" y="2382520"/>
              <a:chExt cx="421640" cy="1244600"/>
            </a:xfrm>
            <a:noFill/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B018FF3-F6C9-B542-1D22-3D7746739922}"/>
                  </a:ext>
                </a:extLst>
              </p:cNvPr>
              <p:cNvSpPr/>
              <p:nvPr/>
            </p:nvSpPr>
            <p:spPr>
              <a:xfrm>
                <a:off x="3355340" y="2382520"/>
                <a:ext cx="421640" cy="42164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FFC5C5E-567F-D38A-C895-DABDFD6D4B52}"/>
                  </a:ext>
                </a:extLst>
              </p:cNvPr>
              <p:cNvCxnSpPr>
                <a:stCxn id="12" idx="4"/>
              </p:cNvCxnSpPr>
              <p:nvPr/>
            </p:nvCxnSpPr>
            <p:spPr>
              <a:xfrm>
                <a:off x="3566160" y="2804160"/>
                <a:ext cx="0" cy="822960"/>
              </a:xfrm>
              <a:prstGeom prst="straightConnector1">
                <a:avLst/>
              </a:prstGeom>
              <a:grpFill/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C383732-8A11-05DD-16B5-B1A968839689}"/>
                </a:ext>
              </a:extLst>
            </p:cNvPr>
            <p:cNvGrpSpPr/>
            <p:nvPr/>
          </p:nvGrpSpPr>
          <p:grpSpPr>
            <a:xfrm>
              <a:off x="6725919" y="2979698"/>
              <a:ext cx="421640" cy="1244600"/>
              <a:chOff x="3355340" y="2382520"/>
              <a:chExt cx="421640" cy="12446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5FB78D1-FE09-E858-0D55-6C49AD978D80}"/>
                  </a:ext>
                </a:extLst>
              </p:cNvPr>
              <p:cNvSpPr/>
              <p:nvPr/>
            </p:nvSpPr>
            <p:spPr>
              <a:xfrm>
                <a:off x="3355340" y="2382520"/>
                <a:ext cx="421640" cy="42164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59102174-6685-B68D-B873-C87FF224330A}"/>
                  </a:ext>
                </a:extLst>
              </p:cNvPr>
              <p:cNvCxnSpPr>
                <a:stCxn id="15" idx="4"/>
              </p:cNvCxnSpPr>
              <p:nvPr/>
            </p:nvCxnSpPr>
            <p:spPr>
              <a:xfrm>
                <a:off x="3566160" y="2804160"/>
                <a:ext cx="0" cy="82296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2FB2FDF-353E-1DED-3B81-6269EB538465}"/>
                </a:ext>
              </a:extLst>
            </p:cNvPr>
            <p:cNvGrpSpPr/>
            <p:nvPr/>
          </p:nvGrpSpPr>
          <p:grpSpPr>
            <a:xfrm>
              <a:off x="4028441" y="2979698"/>
              <a:ext cx="421640" cy="1244600"/>
              <a:chOff x="3355340" y="2382520"/>
              <a:chExt cx="421640" cy="1244600"/>
            </a:xfrm>
            <a:solidFill>
              <a:srgbClr val="9966FF"/>
            </a:solidFill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C34547F-1436-8DA3-689A-297EB2AD958D}"/>
                  </a:ext>
                </a:extLst>
              </p:cNvPr>
              <p:cNvSpPr/>
              <p:nvPr/>
            </p:nvSpPr>
            <p:spPr>
              <a:xfrm>
                <a:off x="3355340" y="2382520"/>
                <a:ext cx="421640" cy="42164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8721B13C-4301-0A5C-0D01-1A3A08986EF5}"/>
                  </a:ext>
                </a:extLst>
              </p:cNvPr>
              <p:cNvCxnSpPr>
                <a:stCxn id="18" idx="4"/>
              </p:cNvCxnSpPr>
              <p:nvPr/>
            </p:nvCxnSpPr>
            <p:spPr>
              <a:xfrm>
                <a:off x="3566160" y="2804160"/>
                <a:ext cx="0" cy="822960"/>
              </a:xfrm>
              <a:prstGeom prst="straightConnector1">
                <a:avLst/>
              </a:prstGeom>
              <a:grpFill/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3BF1F0C-60FA-CCA4-C289-C38D380042F0}"/>
                </a:ext>
              </a:extLst>
            </p:cNvPr>
            <p:cNvSpPr txBox="1"/>
            <p:nvPr/>
          </p:nvSpPr>
          <p:spPr>
            <a:xfrm>
              <a:off x="2766062" y="2939673"/>
              <a:ext cx="904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k=1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AADBDD9-1111-014E-A8DD-1D9CA192CE35}"/>
                </a:ext>
              </a:extLst>
            </p:cNvPr>
            <p:cNvGrpSpPr/>
            <p:nvPr/>
          </p:nvGrpSpPr>
          <p:grpSpPr>
            <a:xfrm>
              <a:off x="8074657" y="4224298"/>
              <a:ext cx="421640" cy="1244600"/>
              <a:chOff x="3355340" y="2382520"/>
              <a:chExt cx="421640" cy="12446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4FAE12B-5ACB-925D-99BD-B00920499794}"/>
                  </a:ext>
                </a:extLst>
              </p:cNvPr>
              <p:cNvSpPr/>
              <p:nvPr/>
            </p:nvSpPr>
            <p:spPr>
              <a:xfrm>
                <a:off x="3355340" y="2382520"/>
                <a:ext cx="421640" cy="421640"/>
              </a:xfrm>
              <a:prstGeom prst="ellipse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9C950EC9-7DFB-6643-E034-DD5D28EE9927}"/>
                  </a:ext>
                </a:extLst>
              </p:cNvPr>
              <p:cNvCxnSpPr>
                <a:stCxn id="22" idx="4"/>
              </p:cNvCxnSpPr>
              <p:nvPr/>
            </p:nvCxnSpPr>
            <p:spPr>
              <a:xfrm>
                <a:off x="3566160" y="2804160"/>
                <a:ext cx="0" cy="82296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9B53B6B-1189-BD83-4CDE-07BCD19B8C16}"/>
                </a:ext>
              </a:extLst>
            </p:cNvPr>
            <p:cNvGrpSpPr/>
            <p:nvPr/>
          </p:nvGrpSpPr>
          <p:grpSpPr>
            <a:xfrm>
              <a:off x="5377180" y="4224298"/>
              <a:ext cx="421640" cy="1244600"/>
              <a:chOff x="3355340" y="2382520"/>
              <a:chExt cx="421640" cy="1244600"/>
            </a:xfrm>
            <a:solidFill>
              <a:srgbClr val="9966FF"/>
            </a:solidFill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AFD01C5-C533-4DA8-FF79-F1A75F988EE9}"/>
                  </a:ext>
                </a:extLst>
              </p:cNvPr>
              <p:cNvSpPr/>
              <p:nvPr/>
            </p:nvSpPr>
            <p:spPr>
              <a:xfrm>
                <a:off x="3355340" y="2382520"/>
                <a:ext cx="421640" cy="42164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DCE6988E-39D2-F99A-F63A-40A576AD0A03}"/>
                  </a:ext>
                </a:extLst>
              </p:cNvPr>
              <p:cNvCxnSpPr>
                <a:stCxn id="25" idx="4"/>
              </p:cNvCxnSpPr>
              <p:nvPr/>
            </p:nvCxnSpPr>
            <p:spPr>
              <a:xfrm>
                <a:off x="3566160" y="2804160"/>
                <a:ext cx="0" cy="822960"/>
              </a:xfrm>
              <a:prstGeom prst="straightConnector1">
                <a:avLst/>
              </a:prstGeom>
              <a:grpFill/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D4A3385-613A-5DEA-F367-8AE99B423E4E}"/>
                </a:ext>
              </a:extLst>
            </p:cNvPr>
            <p:cNvGrpSpPr/>
            <p:nvPr/>
          </p:nvGrpSpPr>
          <p:grpSpPr>
            <a:xfrm>
              <a:off x="6725919" y="4224298"/>
              <a:ext cx="421640" cy="1244600"/>
              <a:chOff x="3355340" y="2382520"/>
              <a:chExt cx="421640" cy="1244600"/>
            </a:xfrm>
            <a:noFill/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9F629DA-255B-AD18-C3B4-898334AD6072}"/>
                  </a:ext>
                </a:extLst>
              </p:cNvPr>
              <p:cNvSpPr/>
              <p:nvPr/>
            </p:nvSpPr>
            <p:spPr>
              <a:xfrm>
                <a:off x="3355340" y="2382520"/>
                <a:ext cx="421640" cy="42164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50499C2F-AFF8-EA46-5945-E02D6DAEEFC3}"/>
                  </a:ext>
                </a:extLst>
              </p:cNvPr>
              <p:cNvCxnSpPr>
                <a:stCxn id="28" idx="4"/>
              </p:cNvCxnSpPr>
              <p:nvPr/>
            </p:nvCxnSpPr>
            <p:spPr>
              <a:xfrm>
                <a:off x="3566160" y="2804160"/>
                <a:ext cx="0" cy="822960"/>
              </a:xfrm>
              <a:prstGeom prst="straightConnector1">
                <a:avLst/>
              </a:prstGeom>
              <a:grpFill/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F73F60B-F918-0C71-739B-870ABCD875BD}"/>
                </a:ext>
              </a:extLst>
            </p:cNvPr>
            <p:cNvGrpSpPr/>
            <p:nvPr/>
          </p:nvGrpSpPr>
          <p:grpSpPr>
            <a:xfrm>
              <a:off x="4028441" y="4224298"/>
              <a:ext cx="421640" cy="1244600"/>
              <a:chOff x="3355340" y="2382520"/>
              <a:chExt cx="421640" cy="1244600"/>
            </a:xfrm>
            <a:solidFill>
              <a:srgbClr val="9966FF"/>
            </a:solidFill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7AF0332-F54D-02B3-4AA0-A5621473015B}"/>
                  </a:ext>
                </a:extLst>
              </p:cNvPr>
              <p:cNvSpPr/>
              <p:nvPr/>
            </p:nvSpPr>
            <p:spPr>
              <a:xfrm>
                <a:off x="3355340" y="2382520"/>
                <a:ext cx="421640" cy="42164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97C395A6-99B9-64D1-F5EE-1EC6AEA1A5B8}"/>
                  </a:ext>
                </a:extLst>
              </p:cNvPr>
              <p:cNvCxnSpPr>
                <a:stCxn id="31" idx="4"/>
              </p:cNvCxnSpPr>
              <p:nvPr/>
            </p:nvCxnSpPr>
            <p:spPr>
              <a:xfrm>
                <a:off x="3566160" y="2804160"/>
                <a:ext cx="0" cy="822960"/>
              </a:xfrm>
              <a:prstGeom prst="straightConnector1">
                <a:avLst/>
              </a:prstGeom>
              <a:grpFill/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04C9647-F262-1745-8BC1-E84488869BBC}"/>
                </a:ext>
              </a:extLst>
            </p:cNvPr>
            <p:cNvSpPr/>
            <p:nvPr/>
          </p:nvSpPr>
          <p:spPr>
            <a:xfrm>
              <a:off x="8074657" y="5468898"/>
              <a:ext cx="421640" cy="42164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BC70B3C-5FB0-BC57-F938-FC3C23F6C9F7}"/>
                </a:ext>
              </a:extLst>
            </p:cNvPr>
            <p:cNvSpPr/>
            <p:nvPr/>
          </p:nvSpPr>
          <p:spPr>
            <a:xfrm>
              <a:off x="5377180" y="5468898"/>
              <a:ext cx="421640" cy="421640"/>
            </a:xfrm>
            <a:prstGeom prst="ellipse">
              <a:avLst/>
            </a:prstGeom>
            <a:solidFill>
              <a:srgbClr val="9966FF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43EB4A2-7B55-56A1-CE5E-DF90B2195349}"/>
                </a:ext>
              </a:extLst>
            </p:cNvPr>
            <p:cNvSpPr/>
            <p:nvPr/>
          </p:nvSpPr>
          <p:spPr>
            <a:xfrm>
              <a:off x="6725919" y="5468898"/>
              <a:ext cx="421640" cy="421640"/>
            </a:xfrm>
            <a:prstGeom prst="ellipse">
              <a:avLst/>
            </a:prstGeom>
            <a:solidFill>
              <a:srgbClr val="9966FF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A850EC2-6454-3C3D-9CE5-779B7F0F3651}"/>
                </a:ext>
              </a:extLst>
            </p:cNvPr>
            <p:cNvSpPr/>
            <p:nvPr/>
          </p:nvSpPr>
          <p:spPr>
            <a:xfrm>
              <a:off x="4028441" y="5468898"/>
              <a:ext cx="421640" cy="421640"/>
            </a:xfrm>
            <a:prstGeom prst="ellipse">
              <a:avLst/>
            </a:prstGeom>
            <a:solidFill>
              <a:srgbClr val="9966FF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7200216-D3B1-AC2A-9DAC-4854E63F1AD8}"/>
                </a:ext>
              </a:extLst>
            </p:cNvPr>
            <p:cNvSpPr txBox="1"/>
            <p:nvPr/>
          </p:nvSpPr>
          <p:spPr>
            <a:xfrm>
              <a:off x="2777491" y="4173558"/>
              <a:ext cx="904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k=2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55829AB-3D5D-52E4-849D-EBC53412E350}"/>
                </a:ext>
              </a:extLst>
            </p:cNvPr>
            <p:cNvSpPr txBox="1"/>
            <p:nvPr/>
          </p:nvSpPr>
          <p:spPr>
            <a:xfrm>
              <a:off x="2777491" y="5294928"/>
              <a:ext cx="9042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k=3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775158C-B87C-1665-6E2A-FDBCB873175A}"/>
                </a:ext>
              </a:extLst>
            </p:cNvPr>
            <p:cNvCxnSpPr>
              <a:cxnSpLocks/>
            </p:cNvCxnSpPr>
            <p:nvPr/>
          </p:nvCxnSpPr>
          <p:spPr>
            <a:xfrm>
              <a:off x="5798820" y="5679718"/>
              <a:ext cx="927099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55CEBD6-5D58-CA47-FB31-F6A250CB7C5A}"/>
                </a:ext>
              </a:extLst>
            </p:cNvPr>
            <p:cNvCxnSpPr/>
            <p:nvPr/>
          </p:nvCxnSpPr>
          <p:spPr>
            <a:xfrm>
              <a:off x="5798820" y="3140581"/>
              <a:ext cx="927099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4CFA0EC-1655-0976-271D-6EF2D3F037E7}"/>
                </a:ext>
              </a:extLst>
            </p:cNvPr>
            <p:cNvCxnSpPr/>
            <p:nvPr/>
          </p:nvCxnSpPr>
          <p:spPr>
            <a:xfrm>
              <a:off x="7147559" y="3150463"/>
              <a:ext cx="927099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FE12DB6-65AD-F7E5-6880-211CA2389592}"/>
                </a:ext>
              </a:extLst>
            </p:cNvPr>
            <p:cNvSpPr/>
            <p:nvPr/>
          </p:nvSpPr>
          <p:spPr>
            <a:xfrm>
              <a:off x="4122420" y="2259299"/>
              <a:ext cx="233681" cy="233681"/>
            </a:xfrm>
            <a:prstGeom prst="ellipse">
              <a:avLst/>
            </a:prstGeom>
            <a:solidFill>
              <a:srgbClr val="9966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0D91AE3-8783-67F7-591F-6A8C3CC1F736}"/>
                </a:ext>
              </a:extLst>
            </p:cNvPr>
            <p:cNvCxnSpPr>
              <a:stCxn id="52" idx="4"/>
              <a:endCxn id="18" idx="0"/>
            </p:cNvCxnSpPr>
            <p:nvPr/>
          </p:nvCxnSpPr>
          <p:spPr>
            <a:xfrm>
              <a:off x="4239261" y="2492980"/>
              <a:ext cx="0" cy="486718"/>
            </a:xfrm>
            <a:prstGeom prst="straightConnector1">
              <a:avLst/>
            </a:prstGeom>
            <a:ln w="38100">
              <a:solidFill>
                <a:srgbClr val="9966FF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B5616AF-6BC1-B6BF-6BF2-609E776B7C84}"/>
                </a:ext>
              </a:extLst>
            </p:cNvPr>
            <p:cNvCxnSpPr>
              <a:cxnSpLocks/>
            </p:cNvCxnSpPr>
            <p:nvPr/>
          </p:nvCxnSpPr>
          <p:spPr>
            <a:xfrm>
              <a:off x="2651760" y="3812818"/>
              <a:ext cx="65024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35C1FEC-E3F4-7B74-A4C2-532799BAA5CB}"/>
                </a:ext>
              </a:extLst>
            </p:cNvPr>
            <p:cNvCxnSpPr>
              <a:cxnSpLocks/>
            </p:cNvCxnSpPr>
            <p:nvPr/>
          </p:nvCxnSpPr>
          <p:spPr>
            <a:xfrm>
              <a:off x="2651760" y="5070396"/>
              <a:ext cx="6502400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03B364D-090B-C853-C30F-219E1DE389F7}"/>
                </a:ext>
              </a:extLst>
            </p:cNvPr>
            <p:cNvCxnSpPr/>
            <p:nvPr/>
          </p:nvCxnSpPr>
          <p:spPr>
            <a:xfrm>
              <a:off x="4450080" y="4410859"/>
              <a:ext cx="927099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A99AC46-4802-3B91-4E59-0FAF9F5B7F7D}"/>
                </a:ext>
              </a:extLst>
            </p:cNvPr>
            <p:cNvCxnSpPr/>
            <p:nvPr/>
          </p:nvCxnSpPr>
          <p:spPr>
            <a:xfrm>
              <a:off x="7147559" y="4411722"/>
              <a:ext cx="927099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C73B13D2-7258-901B-D306-3DA1A2FEDFF2}"/>
                    </a:ext>
                  </a:extLst>
                </p:cNvPr>
                <p:cNvSpPr txBox="1"/>
                <p:nvPr/>
              </p:nvSpPr>
              <p:spPr>
                <a:xfrm>
                  <a:off x="3403600" y="2185711"/>
                  <a:ext cx="10464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C73B13D2-7258-901B-D306-3DA1A2FEDF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3600" y="2185711"/>
                  <a:ext cx="1046480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343B0C34-9207-DBE1-BAFF-958FE0D5FA8B}"/>
                </a:ext>
              </a:extLst>
            </p:cNvPr>
            <p:cNvCxnSpPr/>
            <p:nvPr/>
          </p:nvCxnSpPr>
          <p:spPr>
            <a:xfrm>
              <a:off x="4239260" y="5890538"/>
              <a:ext cx="0" cy="486718"/>
            </a:xfrm>
            <a:prstGeom prst="straightConnector1">
              <a:avLst/>
            </a:prstGeom>
            <a:ln w="38100">
              <a:solidFill>
                <a:srgbClr val="9966FF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A550A06E-A540-2820-C53A-470C90DE9589}"/>
                </a:ext>
              </a:extLst>
            </p:cNvPr>
            <p:cNvCxnSpPr/>
            <p:nvPr/>
          </p:nvCxnSpPr>
          <p:spPr>
            <a:xfrm>
              <a:off x="5588000" y="5877635"/>
              <a:ext cx="0" cy="486718"/>
            </a:xfrm>
            <a:prstGeom prst="straightConnector1">
              <a:avLst/>
            </a:prstGeom>
            <a:ln w="38100">
              <a:solidFill>
                <a:srgbClr val="9966FF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E384A53A-1144-EABC-A6C6-CDCB94608D3B}"/>
                </a:ext>
              </a:extLst>
            </p:cNvPr>
            <p:cNvCxnSpPr/>
            <p:nvPr/>
          </p:nvCxnSpPr>
          <p:spPr>
            <a:xfrm>
              <a:off x="6949439" y="5877635"/>
              <a:ext cx="0" cy="486718"/>
            </a:xfrm>
            <a:prstGeom prst="straightConnector1">
              <a:avLst/>
            </a:prstGeom>
            <a:ln w="38100">
              <a:solidFill>
                <a:srgbClr val="9966FF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6861D05-4EF5-A93D-7DBC-56C8FF4D5464}"/>
                </a:ext>
              </a:extLst>
            </p:cNvPr>
            <p:cNvCxnSpPr/>
            <p:nvPr/>
          </p:nvCxnSpPr>
          <p:spPr>
            <a:xfrm>
              <a:off x="8285477" y="5877635"/>
              <a:ext cx="0" cy="486718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A64B423-4110-0EC8-1B02-A752113A4067}"/>
                </a:ext>
              </a:extLst>
            </p:cNvPr>
            <p:cNvSpPr txBox="1"/>
            <p:nvPr/>
          </p:nvSpPr>
          <p:spPr>
            <a:xfrm>
              <a:off x="3625849" y="1676064"/>
              <a:ext cx="12877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Robot 1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CBFEE4F-437C-50BD-66CC-8638065C6F81}"/>
                </a:ext>
              </a:extLst>
            </p:cNvPr>
            <p:cNvSpPr txBox="1"/>
            <p:nvPr/>
          </p:nvSpPr>
          <p:spPr>
            <a:xfrm>
              <a:off x="4974589" y="1656260"/>
              <a:ext cx="12877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Robot 2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6FBC129-96FA-9A97-CAB3-99CBA9946FC6}"/>
                </a:ext>
              </a:extLst>
            </p:cNvPr>
            <p:cNvSpPr txBox="1"/>
            <p:nvPr/>
          </p:nvSpPr>
          <p:spPr>
            <a:xfrm>
              <a:off x="6323329" y="1676064"/>
              <a:ext cx="12877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Robot 3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BC12FB9-28EC-62F6-57B6-FF1C8B5A833B}"/>
                </a:ext>
              </a:extLst>
            </p:cNvPr>
            <p:cNvSpPr txBox="1"/>
            <p:nvPr/>
          </p:nvSpPr>
          <p:spPr>
            <a:xfrm>
              <a:off x="7641587" y="1664224"/>
              <a:ext cx="12877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Robot 4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8426B05-3EE2-5A08-A22F-D3F1000F430E}"/>
                </a:ext>
              </a:extLst>
            </p:cNvPr>
            <p:cNvSpPr txBox="1"/>
            <p:nvPr/>
          </p:nvSpPr>
          <p:spPr>
            <a:xfrm>
              <a:off x="3736341" y="6401976"/>
              <a:ext cx="1239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Acquired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9C2B638-2602-11BA-9FD6-3D863C288A71}"/>
                </a:ext>
              </a:extLst>
            </p:cNvPr>
            <p:cNvSpPr txBox="1"/>
            <p:nvPr/>
          </p:nvSpPr>
          <p:spPr>
            <a:xfrm>
              <a:off x="5083809" y="6401976"/>
              <a:ext cx="1239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Acquired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7B4C412-BDED-99AF-76F7-0CADFB7DE206}"/>
                </a:ext>
              </a:extLst>
            </p:cNvPr>
            <p:cNvSpPr txBox="1"/>
            <p:nvPr/>
          </p:nvSpPr>
          <p:spPr>
            <a:xfrm>
              <a:off x="6402067" y="6425258"/>
              <a:ext cx="1239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Acquired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7F4CC31-CDFB-90EE-DA93-D5C349368BDC}"/>
                </a:ext>
              </a:extLst>
            </p:cNvPr>
            <p:cNvSpPr txBox="1"/>
            <p:nvPr/>
          </p:nvSpPr>
          <p:spPr>
            <a:xfrm>
              <a:off x="7755884" y="6425258"/>
              <a:ext cx="1239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Missing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1823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A694B-B9AA-6538-6E86-C062D7F3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test">
            <a:hlinkClick r:id="" action="ppaction://media"/>
            <a:extLst>
              <a:ext uri="{FF2B5EF4-FFF2-40B4-BE49-F238E27FC236}">
                <a16:creationId xmlns:a16="http://schemas.microsoft.com/office/drawing/2014/main" id="{A1E20EE8-8A47-9A55-4B11-024D371AB9F6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62050" y="140099"/>
            <a:ext cx="9867900" cy="6577801"/>
          </a:xfrm>
        </p:spPr>
      </p:pic>
    </p:spTree>
    <p:extLst>
      <p:ext uri="{BB962C8B-B14F-4D97-AF65-F5344CB8AC3E}">
        <p14:creationId xmlns:p14="http://schemas.microsoft.com/office/powerpoint/2010/main" val="234650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4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CA778-7F5B-633D-B12B-89B11DD85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Percolation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B5FC7-9224-A13C-2239-180106ECF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2292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Historically: a study of how fluid flow through porous material in statistical mechanic </a:t>
            </a:r>
          </a:p>
          <a:p>
            <a:pPr lvl="1"/>
            <a:r>
              <a:rPr lang="en-US" dirty="0"/>
              <a:t>e.g.  water passing through coffee grounds </a:t>
            </a:r>
          </a:p>
          <a:p>
            <a:r>
              <a:rPr lang="en-US" dirty="0"/>
              <a:t>In mathematics: A study of change of connectivity by adding random link in a graph  </a:t>
            </a:r>
          </a:p>
          <a:p>
            <a:r>
              <a:rPr lang="en-US" dirty="0"/>
              <a:t>Often shows </a:t>
            </a:r>
            <a:r>
              <a:rPr lang="en-US" b="1" u="sng" dirty="0"/>
              <a:t>critical phenomenon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A sudden change in </a:t>
            </a:r>
            <a:r>
              <a:rPr lang="en-US" dirty="0" err="1"/>
              <a:t>behaviour</a:t>
            </a:r>
            <a:r>
              <a:rPr lang="en-US" dirty="0"/>
              <a:t> when </a:t>
            </a:r>
            <a:br>
              <a:rPr lang="en-US" dirty="0"/>
            </a:br>
            <a:r>
              <a:rPr lang="en-US" dirty="0"/>
              <a:t>a parameter pass the </a:t>
            </a:r>
            <a:r>
              <a:rPr lang="en-US" b="1" u="sng" dirty="0"/>
              <a:t>critical point </a:t>
            </a:r>
            <a:r>
              <a:rPr lang="en-US" dirty="0"/>
              <a:t>as it is being smoothly varied</a:t>
            </a:r>
          </a:p>
          <a:p>
            <a:pPr lvl="1"/>
            <a:r>
              <a:rPr lang="en-US" dirty="0"/>
              <a:t>e.g. </a:t>
            </a:r>
            <a:r>
              <a:rPr lang="en-US" dirty="0" err="1"/>
              <a:t>ising</a:t>
            </a:r>
            <a:r>
              <a:rPr lang="en-US" dirty="0"/>
              <a:t> model (magnets) , Erdős–Rényi model (random graph), phase change (boiling water)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3833B4C9-0114-2045-A665-5833AA4EC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3520" y="3779520"/>
            <a:ext cx="3078480" cy="3078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156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ACD9-54CF-88CA-80C7-A9426F3F3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Percolation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0E8FD8-83C8-9876-D7C0-2DD1CE63E4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Does the information show critical phenomenon </a:t>
                </a:r>
              </a:p>
              <a:p>
                <a:pPr lvl="1"/>
                <a:r>
                  <a:rPr lang="en-US" dirty="0"/>
                  <a:t>Is there a critical time window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 where all information is guaranteed to be shared to all robot</a:t>
                </a:r>
              </a:p>
              <a:p>
                <a:pPr lvl="1"/>
                <a:r>
                  <a:rPr lang="en-US" dirty="0"/>
                  <a:t>i.e. there exist a path from all nodes to all nodes in the temporal graph</a:t>
                </a:r>
              </a:p>
              <a:p>
                <a:r>
                  <a:rPr lang="en-US" dirty="0"/>
                  <a:t>How to model the critical time window </a:t>
                </a:r>
              </a:p>
              <a:p>
                <a:pPr lvl="1"/>
                <a:r>
                  <a:rPr lang="en-US" dirty="0"/>
                  <a:t>Given that the number of robots are known </a:t>
                </a:r>
                <a:br>
                  <a:rPr lang="en-US" dirty="0"/>
                </a:br>
                <a:r>
                  <a:rPr lang="en-US" dirty="0"/>
                  <a:t>and the robots travel in the regions ergodically </a:t>
                </a:r>
              </a:p>
              <a:p>
                <a:pPr lvl="1"/>
                <a:r>
                  <a:rPr lang="en-US" dirty="0"/>
                  <a:t>Solution: Absorbing Markov chain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0E8FD8-83C8-9876-D7C0-2DD1CE63E4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8" name="Picture 57">
            <a:extLst>
              <a:ext uri="{FF2B5EF4-FFF2-40B4-BE49-F238E27FC236}">
                <a16:creationId xmlns:a16="http://schemas.microsoft.com/office/drawing/2014/main" id="{013FAA9B-77C0-FBB3-854A-E93083196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695" y="3637280"/>
            <a:ext cx="3707420" cy="300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53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9ED06-D93D-EE6C-9A9E-50479F9EB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Simulated Result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DE56A-4FFE-C680-A4B7-D8668FBE5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434"/>
            <a:ext cx="10515600" cy="4351338"/>
          </a:xfrm>
        </p:spPr>
        <p:txBody>
          <a:bodyPr/>
          <a:lstStyle/>
          <a:p>
            <a:r>
              <a:rPr lang="en-US" dirty="0"/>
              <a:t>Key results:</a:t>
            </a:r>
          </a:p>
          <a:p>
            <a:pPr lvl="1"/>
            <a:r>
              <a:rPr lang="en-US" dirty="0"/>
              <a:t>Critical phenomenon exists </a:t>
            </a:r>
          </a:p>
          <a:p>
            <a:pPr lvl="1"/>
            <a:r>
              <a:rPr lang="en-US" dirty="0"/>
              <a:t>The more robots, the sharper the phase change is </a:t>
            </a:r>
          </a:p>
          <a:p>
            <a:pPr lvl="1"/>
            <a:r>
              <a:rPr lang="en-US" dirty="0"/>
              <a:t>The more robots, the smaller the critical time window is 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FEA4B-0D24-A1A1-A830-E637058D8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802" y="3810000"/>
            <a:ext cx="3709805" cy="27074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D50A15-4069-3B4A-8CA8-7BEC6C1D5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26" y="3810000"/>
            <a:ext cx="3709803" cy="27074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B52F1C-A36E-27F4-9F17-246C77237C0C}"/>
              </a:ext>
            </a:extLst>
          </p:cNvPr>
          <p:cNvSpPr txBox="1"/>
          <p:nvPr/>
        </p:nvSpPr>
        <p:spPr>
          <a:xfrm>
            <a:off x="9631680" y="216049"/>
            <a:ext cx="2225040" cy="144655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Setting: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10 regions E-R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Uniform distribution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1000 trials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REMC transition law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427796-E7A5-C8B6-81FD-D261AC5B0C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5455" y="3810000"/>
            <a:ext cx="3709805" cy="270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79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10E86-3CC5-BB2C-77B3-EA643357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Field Approximation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2F56B-B8C2-E692-0A77-DF70CFDE9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Popular method for handling statistic problem with large amount of variables </a:t>
            </a:r>
          </a:p>
          <a:p>
            <a:pPr lvl="1"/>
            <a:r>
              <a:rPr lang="en-US" dirty="0"/>
              <a:t>e.g. Ising model, Navier-Stokes, </a:t>
            </a:r>
            <a:r>
              <a:rPr lang="en-US" b="1" u="sng" dirty="0"/>
              <a:t>pandemic modelling </a:t>
            </a:r>
          </a:p>
          <a:p>
            <a:r>
              <a:rPr lang="en-US" dirty="0"/>
              <a:t>Treat the swarm as continuous variables and approximate the dynamic using expected value </a:t>
            </a:r>
          </a:p>
          <a:p>
            <a:pPr lvl="1"/>
            <a:r>
              <a:rPr lang="en-US" dirty="0"/>
              <a:t>E.g. it is possible to have 1.53 robot in a region </a:t>
            </a:r>
          </a:p>
        </p:txBody>
      </p:sp>
    </p:spTree>
    <p:extLst>
      <p:ext uri="{BB962C8B-B14F-4D97-AF65-F5344CB8AC3E}">
        <p14:creationId xmlns:p14="http://schemas.microsoft.com/office/powerpoint/2010/main" val="3513550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126EB-F6A6-66AB-FFA1-BFA17981A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Field Approximation -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D419E5-CD82-6981-F3B7-79ED6A429B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u="sng" dirty="0"/>
                  <a:t>Only consider single source for now</a:t>
                </a:r>
              </a:p>
              <a:p>
                <a:r>
                  <a:rPr lang="en-US" dirty="0"/>
                  <a:t>Define the proportion of robot that has the information as</a:t>
                </a:r>
              </a:p>
              <a:p>
                <a:pPr lvl="1"/>
                <a:r>
                  <a:rPr lang="en-US" dirty="0"/>
                  <a:t>The rest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At any time if a region has at least 1 informed robot, the rest will also become informed, the expected increase of informed robot is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D419E5-CD82-6981-F3B7-79ED6A429B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5B74CA-B8F1-C096-B7A8-106F913005C7}"/>
                  </a:ext>
                </a:extLst>
              </p:cNvPr>
              <p:cNvSpPr txBox="1"/>
              <p:nvPr/>
            </p:nvSpPr>
            <p:spPr>
              <a:xfrm>
                <a:off x="9814560" y="2325300"/>
                <a:ext cx="66040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5B74CA-B8F1-C096-B7A8-106F91300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4560" y="2325300"/>
                <a:ext cx="66040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33799F-49A4-A4C8-B47E-760E70B0A785}"/>
                  </a:ext>
                </a:extLst>
              </p:cNvPr>
              <p:cNvSpPr txBox="1"/>
              <p:nvPr/>
            </p:nvSpPr>
            <p:spPr>
              <a:xfrm>
                <a:off x="609600" y="4394200"/>
                <a:ext cx="3783279" cy="672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33799F-49A4-A4C8-B47E-760E70B0A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394200"/>
                <a:ext cx="3783279" cy="6722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>
            <a:extLst>
              <a:ext uri="{FF2B5EF4-FFF2-40B4-BE49-F238E27FC236}">
                <a16:creationId xmlns:a16="http://schemas.microsoft.com/office/drawing/2014/main" id="{8D4C3669-14BA-82CD-AC5A-9CBC4054889E}"/>
              </a:ext>
            </a:extLst>
          </p:cNvPr>
          <p:cNvSpPr/>
          <p:nvPr/>
        </p:nvSpPr>
        <p:spPr>
          <a:xfrm rot="5400000">
            <a:off x="2338679" y="4499019"/>
            <a:ext cx="325120" cy="159512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C7CC5F-CA33-0C7C-76AB-A4B442EE5FD6}"/>
              </a:ext>
            </a:extLst>
          </p:cNvPr>
          <p:cNvSpPr txBox="1"/>
          <p:nvPr/>
        </p:nvSpPr>
        <p:spPr>
          <a:xfrm>
            <a:off x="1036320" y="5569545"/>
            <a:ext cx="2529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of at least one informed robot in the region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0C95D856-B446-865D-2B06-D5060FC921D0}"/>
              </a:ext>
            </a:extLst>
          </p:cNvPr>
          <p:cNvSpPr/>
          <p:nvPr/>
        </p:nvSpPr>
        <p:spPr>
          <a:xfrm rot="5400000">
            <a:off x="3691560" y="4832699"/>
            <a:ext cx="325120" cy="927761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7931D6-F4E5-1B00-8020-20D40D1CFD7F}"/>
              </a:ext>
            </a:extLst>
          </p:cNvPr>
          <p:cNvSpPr txBox="1"/>
          <p:nvPr/>
        </p:nvSpPr>
        <p:spPr>
          <a:xfrm>
            <a:off x="3566160" y="5500584"/>
            <a:ext cx="2529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Expected number of uninformed robot in the region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E16DCBB-C968-367F-ACDD-F97473BA080B}"/>
              </a:ext>
            </a:extLst>
          </p:cNvPr>
          <p:cNvSpPr/>
          <p:nvPr/>
        </p:nvSpPr>
        <p:spPr>
          <a:xfrm>
            <a:off x="4866640" y="4903875"/>
            <a:ext cx="1229360" cy="16256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3D28897-DDC3-FD23-BE14-B7264DF27F22}"/>
                  </a:ext>
                </a:extLst>
              </p:cNvPr>
              <p:cNvSpPr txBox="1"/>
              <p:nvPr/>
            </p:nvSpPr>
            <p:spPr>
              <a:xfrm>
                <a:off x="6531333" y="4797901"/>
                <a:ext cx="5547544" cy="672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3D28897-DDC3-FD23-BE14-B7264DF27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333" y="4797901"/>
                <a:ext cx="5547544" cy="6722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B180B7A-A099-C0C9-D75F-05B058E99786}"/>
              </a:ext>
            </a:extLst>
          </p:cNvPr>
          <p:cNvSpPr txBox="1"/>
          <p:nvPr/>
        </p:nvSpPr>
        <p:spPr>
          <a:xfrm>
            <a:off x="7423346" y="4293632"/>
            <a:ext cx="35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Solve the difference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3B402C-E310-C0CF-52A5-A162B9999D05}"/>
                  </a:ext>
                </a:extLst>
              </p:cNvPr>
              <p:cNvSpPr txBox="1"/>
              <p:nvPr/>
            </p:nvSpPr>
            <p:spPr>
              <a:xfrm>
                <a:off x="7423346" y="5569545"/>
                <a:ext cx="104644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[0]=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3B402C-E310-C0CF-52A5-A162B9999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346" y="5569545"/>
                <a:ext cx="1046440" cy="5186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ABCF960-329A-00F5-1287-351372EBB722}"/>
              </a:ext>
            </a:extLst>
          </p:cNvPr>
          <p:cNvSpPr txBox="1"/>
          <p:nvPr/>
        </p:nvSpPr>
        <p:spPr>
          <a:xfrm>
            <a:off x="8698386" y="5479590"/>
            <a:ext cx="2529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Only 1 informed robot out of N initially</a:t>
            </a:r>
          </a:p>
        </p:txBody>
      </p:sp>
    </p:spTree>
    <p:extLst>
      <p:ext uri="{BB962C8B-B14F-4D97-AF65-F5344CB8AC3E}">
        <p14:creationId xmlns:p14="http://schemas.microsoft.com/office/powerpoint/2010/main" val="1197575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73707-CFC5-11CB-6E3F-E14592538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Chain Formulation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89034-F84D-39F3-B35F-F6F4E8638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486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Consider the number of informed robot as a state</a:t>
            </a:r>
          </a:p>
          <a:p>
            <a:r>
              <a:rPr lang="en-US" sz="2400" dirty="0"/>
              <a:t>Every</a:t>
            </a:r>
            <a:r>
              <a:rPr lang="zh-TW" altLang="en-US" sz="2400" dirty="0"/>
              <a:t> </a:t>
            </a:r>
            <a:r>
              <a:rPr lang="en-US" altLang="zh-TW" sz="2400" dirty="0"/>
              <a:t>time</a:t>
            </a:r>
            <a:r>
              <a:rPr lang="zh-TW" altLang="en-US" sz="2400" dirty="0"/>
              <a:t> </a:t>
            </a:r>
            <a:r>
              <a:rPr lang="en-US" altLang="zh-TW" sz="2400" dirty="0"/>
              <a:t>step,</a:t>
            </a:r>
            <a:r>
              <a:rPr lang="zh-TW" altLang="en-US" sz="2400" dirty="0"/>
              <a:t> </a:t>
            </a:r>
            <a:r>
              <a:rPr lang="en-US" altLang="zh-TW" sz="2400" dirty="0"/>
              <a:t>after the robot moved, there is a chance of the </a:t>
            </a:r>
            <a:r>
              <a:rPr lang="en-US" altLang="zh-TW" sz="2400" dirty="0" err="1"/>
              <a:t>numer</a:t>
            </a:r>
            <a:r>
              <a:rPr lang="en-US" altLang="zh-TW" sz="2400" dirty="0"/>
              <a:t> of informed robots increasing (transition to subsequent state) or stays constant (self loop). But never decrease (go back to previous states)</a:t>
            </a:r>
          </a:p>
          <a:p>
            <a:r>
              <a:rPr lang="en-US" sz="2400" dirty="0"/>
              <a:t>Eventually the chain terminates at all robots being informed </a:t>
            </a:r>
          </a:p>
          <a:p>
            <a:pPr lvl="1"/>
            <a:r>
              <a:rPr lang="en-US" sz="2000" dirty="0"/>
              <a:t>This is called an absorbing chain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5D3738-0C92-677F-3B2F-912049435163}"/>
              </a:ext>
            </a:extLst>
          </p:cNvPr>
          <p:cNvSpPr txBox="1"/>
          <p:nvPr/>
        </p:nvSpPr>
        <p:spPr>
          <a:xfrm>
            <a:off x="838200" y="1506022"/>
            <a:ext cx="8183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IMPORTANT: this Markov chain is not related to the ergodic Markov chain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E0E3DB9-39E1-5B8F-64AC-63569BFBCDF0}"/>
              </a:ext>
            </a:extLst>
          </p:cNvPr>
          <p:cNvGrpSpPr/>
          <p:nvPr/>
        </p:nvGrpSpPr>
        <p:grpSpPr>
          <a:xfrm>
            <a:off x="1727200" y="5192951"/>
            <a:ext cx="9712962" cy="1484590"/>
            <a:chOff x="1727200" y="5192951"/>
            <a:chExt cx="9712962" cy="148459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A1F28FA-D86C-06EB-EF3F-F22A1E3C9F16}"/>
                </a:ext>
              </a:extLst>
            </p:cNvPr>
            <p:cNvSpPr/>
            <p:nvPr/>
          </p:nvSpPr>
          <p:spPr>
            <a:xfrm>
              <a:off x="2265680" y="5210374"/>
              <a:ext cx="883920" cy="88392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03F0345-F243-9500-9865-ED7795DFCF95}"/>
                </a:ext>
              </a:extLst>
            </p:cNvPr>
            <p:cNvSpPr txBox="1"/>
            <p:nvPr/>
          </p:nvSpPr>
          <p:spPr>
            <a:xfrm>
              <a:off x="1727200" y="6296382"/>
              <a:ext cx="233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 informed robot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14768BE-C19E-ED8C-8BEC-D791BA9891BA}"/>
                </a:ext>
              </a:extLst>
            </p:cNvPr>
            <p:cNvSpPr/>
            <p:nvPr/>
          </p:nvSpPr>
          <p:spPr>
            <a:xfrm>
              <a:off x="4135120" y="5192951"/>
              <a:ext cx="883920" cy="88392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6B480BE-EBEE-2998-F393-A381864A1B38}"/>
                </a:ext>
              </a:extLst>
            </p:cNvPr>
            <p:cNvCxnSpPr>
              <a:stCxn id="5" idx="6"/>
              <a:endCxn id="7" idx="2"/>
            </p:cNvCxnSpPr>
            <p:nvPr/>
          </p:nvCxnSpPr>
          <p:spPr>
            <a:xfrm flipV="1">
              <a:off x="3149600" y="5634911"/>
              <a:ext cx="985520" cy="1742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106DFB5-B3A8-B7FA-8BC2-A524E514C758}"/>
                </a:ext>
              </a:extLst>
            </p:cNvPr>
            <p:cNvSpPr txBox="1"/>
            <p:nvPr/>
          </p:nvSpPr>
          <p:spPr>
            <a:xfrm>
              <a:off x="3759200" y="6308209"/>
              <a:ext cx="233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 informed robot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B96FD21-B260-F0F1-4F8D-768F96A27FB1}"/>
                </a:ext>
              </a:extLst>
            </p:cNvPr>
            <p:cNvSpPr/>
            <p:nvPr/>
          </p:nvSpPr>
          <p:spPr>
            <a:xfrm>
              <a:off x="9509760" y="5210374"/>
              <a:ext cx="883920" cy="88392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D2A1267-B3B4-5C36-BAA4-3036CA8BA2FE}"/>
                </a:ext>
              </a:extLst>
            </p:cNvPr>
            <p:cNvSpPr txBox="1"/>
            <p:nvPr/>
          </p:nvSpPr>
          <p:spPr>
            <a:xfrm>
              <a:off x="9103362" y="6296382"/>
              <a:ext cx="233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 informed robot</a:t>
              </a:r>
            </a:p>
          </p:txBody>
        </p:sp>
        <p:cxnSp>
          <p:nvCxnSpPr>
            <p:cNvPr id="15" name="Connector: Curved 14">
              <a:extLst>
                <a:ext uri="{FF2B5EF4-FFF2-40B4-BE49-F238E27FC236}">
                  <a16:creationId xmlns:a16="http://schemas.microsoft.com/office/drawing/2014/main" id="{DEDC0EE1-6193-7F4D-6DF5-967D0A585F73}"/>
                </a:ext>
              </a:extLst>
            </p:cNvPr>
            <p:cNvCxnSpPr>
              <a:stCxn id="5" idx="1"/>
              <a:endCxn id="5" idx="3"/>
            </p:cNvCxnSpPr>
            <p:nvPr/>
          </p:nvCxnSpPr>
          <p:spPr>
            <a:xfrm rot="16200000" flipH="1">
              <a:off x="2082614" y="5652334"/>
              <a:ext cx="625026" cy="12700"/>
            </a:xfrm>
            <a:prstGeom prst="curvedConnector5">
              <a:avLst>
                <a:gd name="adj1" fmla="val -36574"/>
                <a:gd name="adj2" fmla="val -6300732"/>
                <a:gd name="adj3" fmla="val 136574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0D2B01F3-8EA9-3D1E-0BC0-FEC8491C7297}"/>
                </a:ext>
              </a:extLst>
            </p:cNvPr>
            <p:cNvCxnSpPr>
              <a:stCxn id="5" idx="7"/>
              <a:endCxn id="11" idx="1"/>
            </p:cNvCxnSpPr>
            <p:nvPr/>
          </p:nvCxnSpPr>
          <p:spPr>
            <a:xfrm rot="5400000" flipH="1" flipV="1">
              <a:off x="6329680" y="2030294"/>
              <a:ext cx="12700" cy="6619054"/>
            </a:xfrm>
            <a:prstGeom prst="curvedConnector3">
              <a:avLst>
                <a:gd name="adj1" fmla="val 5939268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9500FBE-8FC7-3D28-80D1-5A3BC4F0CC95}"/>
                </a:ext>
              </a:extLst>
            </p:cNvPr>
            <p:cNvSpPr/>
            <p:nvPr/>
          </p:nvSpPr>
          <p:spPr>
            <a:xfrm>
              <a:off x="5779863" y="5192951"/>
              <a:ext cx="883920" cy="88392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92A7145-5A09-6FAC-F27A-28AEECE40461}"/>
                </a:ext>
              </a:extLst>
            </p:cNvPr>
            <p:cNvCxnSpPr>
              <a:cxnSpLocks/>
              <a:stCxn id="7" idx="6"/>
              <a:endCxn id="25" idx="2"/>
            </p:cNvCxnSpPr>
            <p:nvPr/>
          </p:nvCxnSpPr>
          <p:spPr>
            <a:xfrm>
              <a:off x="5019040" y="5634911"/>
              <a:ext cx="76082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ctor: Curved 28">
              <a:extLst>
                <a:ext uri="{FF2B5EF4-FFF2-40B4-BE49-F238E27FC236}">
                  <a16:creationId xmlns:a16="http://schemas.microsoft.com/office/drawing/2014/main" id="{44A9DB85-A3FB-93A7-6BEC-F653CCE06266}"/>
                </a:ext>
              </a:extLst>
            </p:cNvPr>
            <p:cNvCxnSpPr>
              <a:cxnSpLocks/>
              <a:stCxn id="5" idx="7"/>
              <a:endCxn id="25" idx="1"/>
            </p:cNvCxnSpPr>
            <p:nvPr/>
          </p:nvCxnSpPr>
          <p:spPr>
            <a:xfrm rot="5400000" flipH="1" flipV="1">
              <a:off x="4456020" y="3886532"/>
              <a:ext cx="17423" cy="2889157"/>
            </a:xfrm>
            <a:prstGeom prst="curvedConnector3">
              <a:avLst>
                <a:gd name="adj1" fmla="val 215502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9677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B32C9-C195-0084-487C-2427D317C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Absorption Time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D64E5-785E-A884-171B-BDF3211BA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corresponding stochastic matrix is</a:t>
            </a:r>
          </a:p>
          <a:p>
            <a:endParaRPr lang="en-US" dirty="0"/>
          </a:p>
          <a:p>
            <a:r>
              <a:rPr lang="en-US" dirty="0"/>
              <a:t>The expected absorption time is given 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E862CA-60B5-8F8A-F6F1-A7D162594B7E}"/>
                  </a:ext>
                </a:extLst>
              </p:cNvPr>
              <p:cNvSpPr txBox="1"/>
              <p:nvPr/>
            </p:nvSpPr>
            <p:spPr>
              <a:xfrm>
                <a:off x="955040" y="3429000"/>
                <a:ext cx="469392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⋯ 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9E862CA-60B5-8F8A-F6F1-A7D162594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040" y="3429000"/>
                <a:ext cx="4693920" cy="369332"/>
              </a:xfrm>
              <a:prstGeom prst="rect">
                <a:avLst/>
              </a:prstGeom>
              <a:blipFill>
                <a:blip r:embed="rId3"/>
                <a:stretch>
                  <a:fillRect t="-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30D765-835F-BE8E-D8BC-7C6B5546B875}"/>
                  </a:ext>
                </a:extLst>
              </p:cNvPr>
              <p:cNvSpPr txBox="1"/>
              <p:nvPr/>
            </p:nvSpPr>
            <p:spPr>
              <a:xfrm>
                <a:off x="7784517" y="2412713"/>
                <a:ext cx="3152723" cy="1389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𝑛𝑟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30D765-835F-BE8E-D8BC-7C6B5546B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517" y="2412713"/>
                <a:ext cx="3152723" cy="13897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7258355E-ED70-4269-4640-6F390E915476}"/>
              </a:ext>
            </a:extLst>
          </p:cNvPr>
          <p:cNvGrpSpPr/>
          <p:nvPr/>
        </p:nvGrpSpPr>
        <p:grpSpPr>
          <a:xfrm>
            <a:off x="7232464" y="378756"/>
            <a:ext cx="5050976" cy="1386590"/>
            <a:chOff x="7232464" y="378756"/>
            <a:chExt cx="5050976" cy="138659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46BA1B4-7964-6941-0BD6-BC4A4A0B8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99680" y="723224"/>
              <a:ext cx="4683760" cy="104212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54ADC71-B2B7-77FD-DD8B-D2614C819EC5}"/>
                    </a:ext>
                  </a:extLst>
                </p:cNvPr>
                <p:cNvSpPr txBox="1"/>
                <p:nvPr/>
              </p:nvSpPr>
              <p:spPr>
                <a:xfrm>
                  <a:off x="7232464" y="736651"/>
                  <a:ext cx="36721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54ADC71-B2B7-77FD-DD8B-D2614C819E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2464" y="736651"/>
                  <a:ext cx="367216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6393" r="-491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6EE4BBA-23D9-DCA2-532F-89CD844C2222}"/>
                    </a:ext>
                  </a:extLst>
                </p:cNvPr>
                <p:cNvSpPr txBox="1"/>
                <p:nvPr/>
              </p:nvSpPr>
              <p:spPr>
                <a:xfrm>
                  <a:off x="8379513" y="1141094"/>
                  <a:ext cx="37253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6EE4BBA-23D9-DCA2-532F-89CD844C22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9513" y="1141094"/>
                  <a:ext cx="372538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6393" r="-6557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1A841F1-D515-A4D4-8175-C791FEFE3EBD}"/>
                    </a:ext>
                  </a:extLst>
                </p:cNvPr>
                <p:cNvSpPr txBox="1"/>
                <p:nvPr/>
              </p:nvSpPr>
              <p:spPr>
                <a:xfrm>
                  <a:off x="9757952" y="378756"/>
                  <a:ext cx="40139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1A841F1-D515-A4D4-8175-C791FEFE3E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7952" y="378756"/>
                  <a:ext cx="401392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5152" r="-4545" b="-239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512662B-0A97-C0A1-5443-448CB83E2253}"/>
              </a:ext>
            </a:extLst>
          </p:cNvPr>
          <p:cNvSpPr/>
          <p:nvPr/>
        </p:nvSpPr>
        <p:spPr>
          <a:xfrm>
            <a:off x="8474046" y="2345244"/>
            <a:ext cx="2076264" cy="1216271"/>
          </a:xfrm>
          <a:prstGeom prst="rect">
            <a:avLst/>
          </a:prstGeom>
          <a:noFill/>
          <a:ln w="38100">
            <a:solidFill>
              <a:srgbClr val="9966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BCFC70F-5565-4620-C152-4E78A031ACC6}"/>
                  </a:ext>
                </a:extLst>
              </p:cNvPr>
              <p:cNvSpPr txBox="1"/>
              <p:nvPr/>
            </p:nvSpPr>
            <p:spPr>
              <a:xfrm>
                <a:off x="9407822" y="1900283"/>
                <a:ext cx="214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en-US" b="1" dirty="0">
                  <a:solidFill>
                    <a:srgbClr val="9966FF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BCFC70F-5565-4620-C152-4E78A031A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7822" y="1900283"/>
                <a:ext cx="214802" cy="276999"/>
              </a:xfrm>
              <a:prstGeom prst="rect">
                <a:avLst/>
              </a:prstGeom>
              <a:blipFill>
                <a:blip r:embed="rId9"/>
                <a:stretch>
                  <a:fillRect l="-36111" r="-36111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3FA7CF6-B6B9-33D0-DED8-572DD593F0FD}"/>
                  </a:ext>
                </a:extLst>
              </p:cNvPr>
              <p:cNvSpPr txBox="1"/>
              <p:nvPr/>
            </p:nvSpPr>
            <p:spPr>
              <a:xfrm>
                <a:off x="955040" y="4148603"/>
                <a:ext cx="105156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Need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to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find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the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expression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for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𝑛𝑟</m:t>
                        </m:r>
                      </m:sub>
                    </m:sSub>
                  </m:oMath>
                </a14:m>
                <a:r>
                  <a:rPr lang="en-US" dirty="0"/>
                  <a:t>(probability of informed robot increased from r to n in 1 step)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significantly easier than direct method (but still hard)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Mean field </a:t>
                </a:r>
                <a:r>
                  <a:rPr lang="en-US" dirty="0" err="1"/>
                  <a:t>approx</a:t>
                </a:r>
                <a:r>
                  <a:rPr lang="en-US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Not scalable with a lot of robots (inverting (N-1)X(N-1) matrix)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Need to formulate as multi-source percolation 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3FA7CF6-B6B9-33D0-DED8-572DD593F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040" y="4148603"/>
                <a:ext cx="10515600" cy="1477328"/>
              </a:xfrm>
              <a:prstGeom prst="rect">
                <a:avLst/>
              </a:prstGeom>
              <a:blipFill>
                <a:blip r:embed="rId10"/>
                <a:stretch>
                  <a:fillRect l="-406" t="-2066" b="-6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1845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C40FC-014B-37C9-64BA-297FC67A0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Hitting Time Method (fully connected)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18267B-4021-2ABD-C46D-742A0AB3CD1E}"/>
                  </a:ext>
                </a:extLst>
              </p:cNvPr>
              <p:cNvSpPr txBox="1"/>
              <p:nvPr/>
            </p:nvSpPr>
            <p:spPr>
              <a:xfrm>
                <a:off x="119767" y="2371725"/>
                <a:ext cx="8304389" cy="3674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newly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informed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18267B-4021-2ABD-C46D-742A0AB3C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67" y="2371725"/>
                <a:ext cx="8304389" cy="367473"/>
              </a:xfrm>
              <a:prstGeom prst="rect">
                <a:avLst/>
              </a:prstGeom>
              <a:blipFill>
                <a:blip r:embed="rId2"/>
                <a:stretch>
                  <a:fillRect l="-294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0A5FC024-B97F-C119-4086-1C310FB66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665" y="5074572"/>
            <a:ext cx="4255816" cy="946906"/>
          </a:xfrm>
          <a:prstGeom prst="rect">
            <a:avLst/>
          </a:prstGeom>
        </p:spPr>
      </p:pic>
      <p:sp>
        <p:nvSpPr>
          <p:cNvPr id="19" name="Right Brace 18">
            <a:extLst>
              <a:ext uri="{FF2B5EF4-FFF2-40B4-BE49-F238E27FC236}">
                <a16:creationId xmlns:a16="http://schemas.microsoft.com/office/drawing/2014/main" id="{FBE3B806-5227-7F71-04BF-AC11FAF7DBDD}"/>
              </a:ext>
            </a:extLst>
          </p:cNvPr>
          <p:cNvSpPr/>
          <p:nvPr/>
        </p:nvSpPr>
        <p:spPr>
          <a:xfrm rot="5400000">
            <a:off x="4555677" y="2612578"/>
            <a:ext cx="202799" cy="534696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FB5496-5ADA-A22F-1652-3BFBA853B2E3}"/>
              </a:ext>
            </a:extLst>
          </p:cNvPr>
          <p:cNvSpPr txBox="1"/>
          <p:nvPr/>
        </p:nvSpPr>
        <p:spPr>
          <a:xfrm>
            <a:off x="3324225" y="3124200"/>
            <a:ext cx="189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How many way to get r uninformed robots 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E5EA7037-94E6-564B-859C-AA0C7B3D6537}"/>
              </a:ext>
            </a:extLst>
          </p:cNvPr>
          <p:cNvSpPr/>
          <p:nvPr/>
        </p:nvSpPr>
        <p:spPr>
          <a:xfrm rot="5400000">
            <a:off x="5670101" y="2148001"/>
            <a:ext cx="202801" cy="1487196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A26163-D71B-2146-55EA-4A675B837A91}"/>
              </a:ext>
            </a:extLst>
          </p:cNvPr>
          <p:cNvSpPr txBox="1"/>
          <p:nvPr/>
        </p:nvSpPr>
        <p:spPr>
          <a:xfrm>
            <a:off x="4924425" y="3135874"/>
            <a:ext cx="1895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 robots meet with at least 1 informed robots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7A07FA67-824E-D591-F246-59A678A12480}"/>
              </a:ext>
            </a:extLst>
          </p:cNvPr>
          <p:cNvSpPr/>
          <p:nvPr/>
        </p:nvSpPr>
        <p:spPr>
          <a:xfrm rot="5400000">
            <a:off x="7460695" y="2059621"/>
            <a:ext cx="157940" cy="1708823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93C7DE-2E21-ACDB-8A2D-D85833035C17}"/>
              </a:ext>
            </a:extLst>
          </p:cNvPr>
          <p:cNvSpPr txBox="1"/>
          <p:nvPr/>
        </p:nvSpPr>
        <p:spPr>
          <a:xfrm>
            <a:off x="6819900" y="3124200"/>
            <a:ext cx="1895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Rest of the uninformed robot does not meet with any informed robot</a:t>
            </a: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989BE918-1096-F8CA-FA40-FFF094671C23}"/>
              </a:ext>
            </a:extLst>
          </p:cNvPr>
          <p:cNvSpPr/>
          <p:nvPr/>
        </p:nvSpPr>
        <p:spPr>
          <a:xfrm rot="16200000">
            <a:off x="5982556" y="2201128"/>
            <a:ext cx="104801" cy="25544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D58068-F507-D66F-029A-D1F6A29A13D3}"/>
              </a:ext>
            </a:extLst>
          </p:cNvPr>
          <p:cNvSpPr txBox="1"/>
          <p:nvPr/>
        </p:nvSpPr>
        <p:spPr>
          <a:xfrm>
            <a:off x="5166015" y="1721376"/>
            <a:ext cx="3038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Pairwise meeting chance</a:t>
            </a:r>
          </a:p>
          <a:p>
            <a:r>
              <a:rPr lang="en-US" sz="1200" dirty="0"/>
              <a:t>(fully connected)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9FCC111-1223-73DB-21C2-939744CC8512}"/>
                  </a:ext>
                </a:extLst>
              </p:cNvPr>
              <p:cNvSpPr txBox="1"/>
              <p:nvPr/>
            </p:nvSpPr>
            <p:spPr>
              <a:xfrm>
                <a:off x="8873571" y="2294395"/>
                <a:ext cx="3152723" cy="1389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𝑛𝑟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9FCC111-1223-73DB-21C2-939744CC8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3571" y="2294395"/>
                <a:ext cx="3152723" cy="13897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E17BA688-BDF8-7846-191D-56C0A9D92584}"/>
              </a:ext>
            </a:extLst>
          </p:cNvPr>
          <p:cNvSpPr/>
          <p:nvPr/>
        </p:nvSpPr>
        <p:spPr>
          <a:xfrm>
            <a:off x="9563100" y="2226926"/>
            <a:ext cx="2076264" cy="1216271"/>
          </a:xfrm>
          <a:prstGeom prst="rect">
            <a:avLst/>
          </a:prstGeom>
          <a:noFill/>
          <a:ln w="38100">
            <a:solidFill>
              <a:srgbClr val="9966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EFDEFD-EE72-7DA0-8B7E-EF7258FC18C1}"/>
                  </a:ext>
                </a:extLst>
              </p:cNvPr>
              <p:cNvSpPr txBox="1"/>
              <p:nvPr/>
            </p:nvSpPr>
            <p:spPr>
              <a:xfrm>
                <a:off x="10496876" y="1781965"/>
                <a:ext cx="214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en-US" b="1" dirty="0">
                  <a:solidFill>
                    <a:srgbClr val="9966FF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EFDEFD-EE72-7DA0-8B7E-EF7258FC1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6876" y="1781965"/>
                <a:ext cx="214802" cy="276999"/>
              </a:xfrm>
              <a:prstGeom prst="rect">
                <a:avLst/>
              </a:prstGeom>
              <a:blipFill>
                <a:blip r:embed="rId5"/>
                <a:stretch>
                  <a:fillRect l="-37143" r="-40000" b="-2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2B0E3F8-8411-67F4-F04E-409E96C73233}"/>
                  </a:ext>
                </a:extLst>
              </p:cNvPr>
              <p:cNvSpPr txBox="1"/>
              <p:nvPr/>
            </p:nvSpPr>
            <p:spPr>
              <a:xfrm>
                <a:off x="161791" y="4216232"/>
                <a:ext cx="5114605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𝑖𝑛𝑓𝑜𝑟𝑚𝑒𝑑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4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⋯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2B0E3F8-8411-67F4-F04E-409E96C73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91" y="4216232"/>
                <a:ext cx="5114605" cy="281937"/>
              </a:xfrm>
              <a:prstGeom prst="rect">
                <a:avLst/>
              </a:prstGeom>
              <a:blipFill>
                <a:blip r:embed="rId6"/>
                <a:stretch>
                  <a:fillRect t="-2174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ight Brace 32">
            <a:extLst>
              <a:ext uri="{FF2B5EF4-FFF2-40B4-BE49-F238E27FC236}">
                <a16:creationId xmlns:a16="http://schemas.microsoft.com/office/drawing/2014/main" id="{C941F9F7-84B7-D728-BD0D-EA397CC06FFA}"/>
              </a:ext>
            </a:extLst>
          </p:cNvPr>
          <p:cNvSpPr/>
          <p:nvPr/>
        </p:nvSpPr>
        <p:spPr>
          <a:xfrm rot="16200000">
            <a:off x="4288658" y="3330029"/>
            <a:ext cx="202140" cy="153051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5122EC-1032-D9A1-B073-E317E6478DD3}"/>
              </a:ext>
            </a:extLst>
          </p:cNvPr>
          <p:cNvSpPr txBox="1"/>
          <p:nvPr/>
        </p:nvSpPr>
        <p:spPr>
          <a:xfrm>
            <a:off x="3709338" y="3709257"/>
            <a:ext cx="1895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Initial distribution </a:t>
            </a: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60C1A56D-AD66-3BFB-F4F8-9FAF3963B95C}"/>
              </a:ext>
            </a:extLst>
          </p:cNvPr>
          <p:cNvSpPr/>
          <p:nvPr/>
        </p:nvSpPr>
        <p:spPr>
          <a:xfrm rot="5400000">
            <a:off x="4034980" y="3558814"/>
            <a:ext cx="245366" cy="2124077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91DBCB-EF35-55DC-7CB4-843E6D5A4BCA}"/>
              </a:ext>
            </a:extLst>
          </p:cNvPr>
          <p:cNvSpPr txBox="1"/>
          <p:nvPr/>
        </p:nvSpPr>
        <p:spPr>
          <a:xfrm>
            <a:off x="3324223" y="4859129"/>
            <a:ext cx="18954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Probability of not absorbed in k step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B48CF4-037C-1BBC-FD98-1230571024AD}"/>
              </a:ext>
            </a:extLst>
          </p:cNvPr>
          <p:cNvSpPr txBox="1"/>
          <p:nvPr/>
        </p:nvSpPr>
        <p:spPr>
          <a:xfrm>
            <a:off x="119767" y="1514111"/>
            <a:ext cx="49081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Pairwise approximation </a:t>
            </a:r>
          </a:p>
          <a:p>
            <a:r>
              <a:rPr lang="en-US" sz="1600" dirty="0"/>
              <a:t>(accurate if meeting chance is not too high)</a:t>
            </a:r>
          </a:p>
        </p:txBody>
      </p:sp>
    </p:spTree>
    <p:extLst>
      <p:ext uri="{BB962C8B-B14F-4D97-AF65-F5344CB8AC3E}">
        <p14:creationId xmlns:p14="http://schemas.microsoft.com/office/powerpoint/2010/main" val="1366139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96D62-A99C-7E2A-327C-081139A9F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161FC-E7BD-417F-88B6-4D9B8A545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C672B0-7560-E987-25C8-ECA175B5C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685" y="216841"/>
            <a:ext cx="8802629" cy="642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70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2F784-C6BD-3174-1082-44C2895DF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Pairwise Meeting Chance on Region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B42DB-A64A-A938-A32B-61C44D2B9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57" y="1690688"/>
            <a:ext cx="7720285" cy="4351338"/>
          </a:xfrm>
        </p:spPr>
        <p:txBody>
          <a:bodyPr>
            <a:normAutofit/>
          </a:bodyPr>
          <a:lstStyle/>
          <a:p>
            <a:r>
              <a:rPr lang="en-US" sz="1600" dirty="0"/>
              <a:t>Consider 2 agents on a region graph with a given transition matrix</a:t>
            </a:r>
          </a:p>
          <a:p>
            <a:r>
              <a:rPr lang="en-US" sz="1600" dirty="0"/>
              <a:t>Create new state space with the cartesian product </a:t>
            </a:r>
          </a:p>
          <a:p>
            <a:r>
              <a:rPr lang="en-US" sz="1600" dirty="0"/>
              <a:t>Find initial state in combined state space </a:t>
            </a:r>
          </a:p>
          <a:p>
            <a:r>
              <a:rPr lang="en-US" sz="1600" dirty="0"/>
              <a:t>Remove “collision states”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99A2E44-1FB5-FE14-9165-AE8A4278CBFA}"/>
              </a:ext>
            </a:extLst>
          </p:cNvPr>
          <p:cNvSpPr/>
          <p:nvPr/>
        </p:nvSpPr>
        <p:spPr>
          <a:xfrm>
            <a:off x="9196660" y="2043114"/>
            <a:ext cx="733425" cy="7334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E6CCB0-336F-5FDE-8B55-D77C67B12042}"/>
              </a:ext>
            </a:extLst>
          </p:cNvPr>
          <p:cNvSpPr/>
          <p:nvPr/>
        </p:nvSpPr>
        <p:spPr>
          <a:xfrm>
            <a:off x="10796860" y="2043114"/>
            <a:ext cx="733425" cy="7334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4FAC62-50E9-12DB-B149-076CF9502788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9930085" y="2409827"/>
            <a:ext cx="86677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8B4E6B8-5083-8107-73DF-9E3A383D7B71}"/>
              </a:ext>
            </a:extLst>
          </p:cNvPr>
          <p:cNvSpPr txBox="1"/>
          <p:nvPr/>
        </p:nvSpPr>
        <p:spPr>
          <a:xfrm>
            <a:off x="10766424" y="1199984"/>
            <a:ext cx="995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Region</a:t>
            </a:r>
            <a:r>
              <a:rPr lang="zh-TW" altLang="en-US" dirty="0"/>
              <a:t> </a:t>
            </a:r>
            <a:r>
              <a:rPr lang="en-US" altLang="zh-TW" dirty="0"/>
              <a:t>graph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6CFE1C9-BA27-24F3-6458-3410EE513E4C}"/>
                  </a:ext>
                </a:extLst>
              </p:cNvPr>
              <p:cNvSpPr txBox="1"/>
              <p:nvPr/>
            </p:nvSpPr>
            <p:spPr>
              <a:xfrm>
                <a:off x="10170610" y="1690688"/>
                <a:ext cx="3672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6CFE1C9-BA27-24F3-6458-3410EE513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0610" y="1690688"/>
                <a:ext cx="367216" cy="276999"/>
              </a:xfrm>
              <a:prstGeom prst="rect">
                <a:avLst/>
              </a:prstGeom>
              <a:blipFill>
                <a:blip r:embed="rId2"/>
                <a:stretch>
                  <a:fillRect l="-16393" r="-4918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108A9F20-2AE4-9B76-E452-EB8AE26336EA}"/>
              </a:ext>
            </a:extLst>
          </p:cNvPr>
          <p:cNvCxnSpPr>
            <a:stCxn id="4" idx="1"/>
            <a:endCxn id="4" idx="3"/>
          </p:cNvCxnSpPr>
          <p:nvPr/>
        </p:nvCxnSpPr>
        <p:spPr>
          <a:xfrm rot="16200000" flipH="1">
            <a:off x="9044763" y="2409826"/>
            <a:ext cx="518609" cy="12700"/>
          </a:xfrm>
          <a:prstGeom prst="curvedConnector5">
            <a:avLst>
              <a:gd name="adj1" fmla="val -44079"/>
              <a:gd name="adj2" fmla="val -2904268"/>
              <a:gd name="adj3" fmla="val 14407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A40065-4B69-3A46-5BBB-3247E1D78349}"/>
                  </a:ext>
                </a:extLst>
              </p:cNvPr>
              <p:cNvSpPr txBox="1"/>
              <p:nvPr/>
            </p:nvSpPr>
            <p:spPr>
              <a:xfrm>
                <a:off x="8558485" y="1804445"/>
                <a:ext cx="3672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7A40065-4B69-3A46-5BBB-3247E1D78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8485" y="1804445"/>
                <a:ext cx="367215" cy="276999"/>
              </a:xfrm>
              <a:prstGeom prst="rect">
                <a:avLst/>
              </a:prstGeom>
              <a:blipFill>
                <a:blip r:embed="rId3"/>
                <a:stretch>
                  <a:fillRect l="-16667" r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68ECA6BC-9E02-9D19-8A17-D129777D5D18}"/>
              </a:ext>
            </a:extLst>
          </p:cNvPr>
          <p:cNvCxnSpPr>
            <a:cxnSpLocks/>
            <a:stCxn id="5" idx="7"/>
            <a:endCxn id="5" idx="5"/>
          </p:cNvCxnSpPr>
          <p:nvPr/>
        </p:nvCxnSpPr>
        <p:spPr>
          <a:xfrm rot="16200000" flipH="1">
            <a:off x="11163572" y="2409826"/>
            <a:ext cx="518609" cy="12700"/>
          </a:xfrm>
          <a:prstGeom prst="curvedConnector5">
            <a:avLst>
              <a:gd name="adj1" fmla="val -44079"/>
              <a:gd name="adj2" fmla="val 3054268"/>
              <a:gd name="adj3" fmla="val 14407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146DBB5E-AE83-C5DE-5B13-7BF237930FD0}"/>
              </a:ext>
            </a:extLst>
          </p:cNvPr>
          <p:cNvSpPr/>
          <p:nvPr/>
        </p:nvSpPr>
        <p:spPr>
          <a:xfrm rot="5400000">
            <a:off x="10080665" y="3201168"/>
            <a:ext cx="609600" cy="40957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EA5CD19-1F68-0E16-B166-3296554A7DC3}"/>
              </a:ext>
            </a:extLst>
          </p:cNvPr>
          <p:cNvSpPr/>
          <p:nvPr/>
        </p:nvSpPr>
        <p:spPr>
          <a:xfrm>
            <a:off x="9597252" y="3917956"/>
            <a:ext cx="733425" cy="7334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1,1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EA27857-FBA5-32CD-3D59-CD76E3137C04}"/>
              </a:ext>
            </a:extLst>
          </p:cNvPr>
          <p:cNvSpPr/>
          <p:nvPr/>
        </p:nvSpPr>
        <p:spPr>
          <a:xfrm>
            <a:off x="10875168" y="4222749"/>
            <a:ext cx="733425" cy="7334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1,2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6E3C48B-EC07-4CEB-108F-87CB8F819C17}"/>
              </a:ext>
            </a:extLst>
          </p:cNvPr>
          <p:cNvSpPr/>
          <p:nvPr/>
        </p:nvSpPr>
        <p:spPr>
          <a:xfrm>
            <a:off x="8958294" y="4956174"/>
            <a:ext cx="733425" cy="7334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2,1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60770FB-8886-A32A-7EEB-A78FB3751AD4}"/>
              </a:ext>
            </a:extLst>
          </p:cNvPr>
          <p:cNvSpPr/>
          <p:nvPr/>
        </p:nvSpPr>
        <p:spPr>
          <a:xfrm>
            <a:off x="10357433" y="5308601"/>
            <a:ext cx="733425" cy="7334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2,2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D0E76D9-B56D-2456-1E4F-B7F5935F6F53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>
          <a:xfrm flipH="1">
            <a:off x="9325007" y="4543973"/>
            <a:ext cx="379653" cy="4122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7BC42B4-1C02-802E-ACB2-EF3C71448A94}"/>
              </a:ext>
            </a:extLst>
          </p:cNvPr>
          <p:cNvCxnSpPr>
            <a:stCxn id="36" idx="5"/>
            <a:endCxn id="38" idx="2"/>
          </p:cNvCxnSpPr>
          <p:nvPr/>
        </p:nvCxnSpPr>
        <p:spPr>
          <a:xfrm>
            <a:off x="9584311" y="5582191"/>
            <a:ext cx="773122" cy="931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E995EC2-8FC8-F6DB-6935-0504BF147171}"/>
              </a:ext>
            </a:extLst>
          </p:cNvPr>
          <p:cNvCxnSpPr>
            <a:stCxn id="35" idx="4"/>
            <a:endCxn id="38" idx="7"/>
          </p:cNvCxnSpPr>
          <p:nvPr/>
        </p:nvCxnSpPr>
        <p:spPr>
          <a:xfrm flipH="1">
            <a:off x="10983450" y="4956174"/>
            <a:ext cx="258431" cy="4598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73FD466-9D77-551E-8726-3D047E3E4B58}"/>
              </a:ext>
            </a:extLst>
          </p:cNvPr>
          <p:cNvCxnSpPr>
            <a:stCxn id="34" idx="6"/>
            <a:endCxn id="35" idx="1"/>
          </p:cNvCxnSpPr>
          <p:nvPr/>
        </p:nvCxnSpPr>
        <p:spPr>
          <a:xfrm>
            <a:off x="10330677" y="4284669"/>
            <a:ext cx="651899" cy="454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1CB36F7-BAC7-1565-CFD0-17BA424120C7}"/>
              </a:ext>
            </a:extLst>
          </p:cNvPr>
          <p:cNvSpPr txBox="1"/>
          <p:nvPr/>
        </p:nvSpPr>
        <p:spPr>
          <a:xfrm>
            <a:off x="8132260" y="3218679"/>
            <a:ext cx="2038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Cartesian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C73F59-D3E9-7396-150D-C031DC48CBBD}"/>
                  </a:ext>
                </a:extLst>
              </p:cNvPr>
              <p:cNvSpPr txBox="1"/>
              <p:nvPr/>
            </p:nvSpPr>
            <p:spPr>
              <a:xfrm>
                <a:off x="8742092" y="4504666"/>
                <a:ext cx="6932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C73F59-D3E9-7396-150D-C031DC48C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2092" y="4504666"/>
                <a:ext cx="693267" cy="276999"/>
              </a:xfrm>
              <a:prstGeom prst="rect">
                <a:avLst/>
              </a:prstGeom>
              <a:blipFill>
                <a:blip r:embed="rId4"/>
                <a:stretch>
                  <a:fillRect l="-8772" r="-350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79FFC4A-BCC1-6135-9350-7DE407A31A23}"/>
                  </a:ext>
                </a:extLst>
              </p:cNvPr>
              <p:cNvSpPr txBox="1"/>
              <p:nvPr/>
            </p:nvSpPr>
            <p:spPr>
              <a:xfrm>
                <a:off x="10419398" y="3866357"/>
                <a:ext cx="6932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79FFC4A-BCC1-6135-9350-7DE407A31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9398" y="3866357"/>
                <a:ext cx="693267" cy="276999"/>
              </a:xfrm>
              <a:prstGeom prst="rect">
                <a:avLst/>
              </a:prstGeom>
              <a:blipFill>
                <a:blip r:embed="rId5"/>
                <a:stretch>
                  <a:fillRect l="-8772" r="-3509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DDAA1F8-EFDC-E385-831F-D3CAB0B8A371}"/>
              </a:ext>
            </a:extLst>
          </p:cNvPr>
          <p:cNvCxnSpPr>
            <a:cxnSpLocks/>
            <a:stCxn id="34" idx="5"/>
            <a:endCxn id="38" idx="1"/>
          </p:cNvCxnSpPr>
          <p:nvPr/>
        </p:nvCxnSpPr>
        <p:spPr>
          <a:xfrm>
            <a:off x="10223269" y="4543973"/>
            <a:ext cx="241572" cy="872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D8B1A28-4344-582C-FED7-04BB454A49FB}"/>
                  </a:ext>
                </a:extLst>
              </p:cNvPr>
              <p:cNvSpPr txBox="1"/>
              <p:nvPr/>
            </p:nvSpPr>
            <p:spPr>
              <a:xfrm>
                <a:off x="9902910" y="4865197"/>
                <a:ext cx="372538" cy="2807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D8B1A28-4344-582C-FED7-04BB454A4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2910" y="4865197"/>
                <a:ext cx="372538" cy="280718"/>
              </a:xfrm>
              <a:prstGeom prst="rect">
                <a:avLst/>
              </a:prstGeom>
              <a:blipFill>
                <a:blip r:embed="rId6"/>
                <a:stretch>
                  <a:fillRect l="-16129" r="-4839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EEB68CD-8265-1CE7-A206-C092B5AB7624}"/>
                  </a:ext>
                </a:extLst>
              </p:cNvPr>
              <p:cNvSpPr txBox="1"/>
              <p:nvPr/>
            </p:nvSpPr>
            <p:spPr>
              <a:xfrm>
                <a:off x="4238005" y="4682522"/>
                <a:ext cx="4099776" cy="1139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EEB68CD-8265-1CE7-A206-C092B5AB7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005" y="4682522"/>
                <a:ext cx="4099776" cy="11392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B64D63AF-6FDA-00E6-63C7-7D773F3FADFB}"/>
              </a:ext>
            </a:extLst>
          </p:cNvPr>
          <p:cNvSpPr txBox="1"/>
          <p:nvPr/>
        </p:nvSpPr>
        <p:spPr>
          <a:xfrm>
            <a:off x="4984391" y="4258771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(1,1)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62DDFFA-5517-EDBF-0EF1-14CED2C61CB9}"/>
              </a:ext>
            </a:extLst>
          </p:cNvPr>
          <p:cNvSpPr txBox="1"/>
          <p:nvPr/>
        </p:nvSpPr>
        <p:spPr>
          <a:xfrm>
            <a:off x="5807872" y="4268844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(1,2)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B98EC40-E678-CE59-7113-8AE2F83F2E7E}"/>
              </a:ext>
            </a:extLst>
          </p:cNvPr>
          <p:cNvSpPr txBox="1"/>
          <p:nvPr/>
        </p:nvSpPr>
        <p:spPr>
          <a:xfrm>
            <a:off x="6695263" y="4258771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(2,1)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9A4D8E-CA04-6614-4796-0A6BC78C572A}"/>
              </a:ext>
            </a:extLst>
          </p:cNvPr>
          <p:cNvSpPr txBox="1"/>
          <p:nvPr/>
        </p:nvSpPr>
        <p:spPr>
          <a:xfrm>
            <a:off x="7424701" y="4258771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(2,2)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42099C4-D1C8-7516-8910-8B4C02A9EC54}"/>
              </a:ext>
            </a:extLst>
          </p:cNvPr>
          <p:cNvCxnSpPr>
            <a:cxnSpLocks/>
          </p:cNvCxnSpPr>
          <p:nvPr/>
        </p:nvCxnSpPr>
        <p:spPr>
          <a:xfrm>
            <a:off x="5242954" y="4638176"/>
            <a:ext cx="0" cy="18769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951B6022-9979-237A-86CC-F10C4349EEC2}"/>
              </a:ext>
            </a:extLst>
          </p:cNvPr>
          <p:cNvCxnSpPr>
            <a:cxnSpLocks/>
          </p:cNvCxnSpPr>
          <p:nvPr/>
        </p:nvCxnSpPr>
        <p:spPr>
          <a:xfrm>
            <a:off x="4631966" y="4868154"/>
            <a:ext cx="377632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8E07510-A3FE-96EB-7638-FD5B3A44EE28}"/>
              </a:ext>
            </a:extLst>
          </p:cNvPr>
          <p:cNvCxnSpPr>
            <a:cxnSpLocks/>
          </p:cNvCxnSpPr>
          <p:nvPr/>
        </p:nvCxnSpPr>
        <p:spPr>
          <a:xfrm>
            <a:off x="4561457" y="5715879"/>
            <a:ext cx="377632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3E86E5C-80C8-597D-635F-778D89DF902A}"/>
              </a:ext>
            </a:extLst>
          </p:cNvPr>
          <p:cNvCxnSpPr>
            <a:cxnSpLocks/>
          </p:cNvCxnSpPr>
          <p:nvPr/>
        </p:nvCxnSpPr>
        <p:spPr>
          <a:xfrm>
            <a:off x="7828839" y="4682522"/>
            <a:ext cx="0" cy="18325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6ABE4F16-0EC0-B04A-5CDF-C3EA31A18CC4}"/>
              </a:ext>
            </a:extLst>
          </p:cNvPr>
          <p:cNvSpPr/>
          <p:nvPr/>
        </p:nvSpPr>
        <p:spPr>
          <a:xfrm>
            <a:off x="5670191" y="5008512"/>
            <a:ext cx="1710198" cy="601499"/>
          </a:xfrm>
          <a:prstGeom prst="roundRect">
            <a:avLst/>
          </a:prstGeom>
          <a:noFill/>
          <a:ln w="38100">
            <a:solidFill>
              <a:srgbClr val="9966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75BD67F-011C-DBF3-5912-1F827E4D8F2A}"/>
                  </a:ext>
                </a:extLst>
              </p:cNvPr>
              <p:cNvSpPr txBox="1"/>
              <p:nvPr/>
            </p:nvSpPr>
            <p:spPr>
              <a:xfrm>
                <a:off x="6471807" y="6446445"/>
                <a:ext cx="2964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99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rgbClr val="9966FF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9966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9966FF"/>
                  </a:solidFill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75BD67F-011C-DBF3-5912-1F827E4D8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807" y="6446445"/>
                <a:ext cx="296491" cy="276999"/>
              </a:xfrm>
              <a:prstGeom prst="rect">
                <a:avLst/>
              </a:prstGeom>
              <a:blipFill>
                <a:blip r:embed="rId8"/>
                <a:stretch>
                  <a:fillRect l="-20833" r="-8333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5474F6F-F21C-EE5C-10D9-290648EA966D}"/>
                  </a:ext>
                </a:extLst>
              </p:cNvPr>
              <p:cNvSpPr txBox="1"/>
              <p:nvPr/>
            </p:nvSpPr>
            <p:spPr>
              <a:xfrm>
                <a:off x="768416" y="3455021"/>
                <a:ext cx="4860626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𝑜𝑛𝑐𝑒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𝑤𝑖𝑡h𝑖𝑛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35474F6F-F21C-EE5C-10D9-290648EA9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416" y="3455021"/>
                <a:ext cx="4860626" cy="281937"/>
              </a:xfrm>
              <a:prstGeom prst="rect">
                <a:avLst/>
              </a:prstGeom>
              <a:blipFill>
                <a:blip r:embed="rId9"/>
                <a:stretch>
                  <a:fillRect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609B651-5E23-70DE-7AB1-3E95E52361FA}"/>
                  </a:ext>
                </a:extLst>
              </p:cNvPr>
              <p:cNvSpPr txBox="1"/>
              <p:nvPr/>
            </p:nvSpPr>
            <p:spPr>
              <a:xfrm>
                <a:off x="4540234" y="5981972"/>
                <a:ext cx="3802258" cy="3674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0,1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0,1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0,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0,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0,2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609B651-5E23-70DE-7AB1-3E95E5236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234" y="5981972"/>
                <a:ext cx="3802258" cy="367473"/>
              </a:xfrm>
              <a:prstGeom prst="rect">
                <a:avLst/>
              </a:prstGeom>
              <a:blipFill>
                <a:blip r:embed="rId10"/>
                <a:stretch>
                  <a:fillRect l="-481" r="-16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F92DDE3-4755-C1B0-5F42-E7681A76F5A6}"/>
                  </a:ext>
                </a:extLst>
              </p:cNvPr>
              <p:cNvSpPr txBox="1"/>
              <p:nvPr/>
            </p:nvSpPr>
            <p:spPr>
              <a:xfrm>
                <a:off x="6760305" y="2399896"/>
                <a:ext cx="2045624" cy="3107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,2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zh-TW" altLang="en-US" i="1">
                          <a:latin typeface="Cambria Math" panose="02040503050406030204" pitchFamily="18" charset="0"/>
                        </a:rPr>
                        <m:t>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F92DDE3-4755-C1B0-5F42-E7681A76F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0305" y="2399896"/>
                <a:ext cx="2045624" cy="310791"/>
              </a:xfrm>
              <a:prstGeom prst="rect">
                <a:avLst/>
              </a:prstGeom>
              <a:blipFill>
                <a:blip r:embed="rId11"/>
                <a:stretch>
                  <a:fillRect l="-2679" b="-2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FA33044D-2CF7-E1AB-9CE0-A86E5136B16D}"/>
              </a:ext>
            </a:extLst>
          </p:cNvPr>
          <p:cNvSpPr txBox="1"/>
          <p:nvPr/>
        </p:nvSpPr>
        <p:spPr>
          <a:xfrm>
            <a:off x="6894527" y="1727092"/>
            <a:ext cx="1561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EB42AAD-9CBC-FB24-6BA3-61F766DF6224}"/>
                  </a:ext>
                </a:extLst>
              </p:cNvPr>
              <p:cNvSpPr txBox="1"/>
              <p:nvPr/>
            </p:nvSpPr>
            <p:spPr>
              <a:xfrm>
                <a:off x="6426019" y="4485287"/>
                <a:ext cx="214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en-US" b="1" dirty="0">
                  <a:solidFill>
                    <a:srgbClr val="9966FF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EB42AAD-9CBC-FB24-6BA3-61F766DF6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019" y="4485287"/>
                <a:ext cx="214802" cy="276999"/>
              </a:xfrm>
              <a:prstGeom prst="rect">
                <a:avLst/>
              </a:prstGeom>
              <a:blipFill>
                <a:blip r:embed="rId12"/>
                <a:stretch>
                  <a:fillRect l="-37143" r="-40000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6E7F9951-2822-3DBC-7DC7-1E18C789AB1A}"/>
              </a:ext>
            </a:extLst>
          </p:cNvPr>
          <p:cNvSpPr/>
          <p:nvPr/>
        </p:nvSpPr>
        <p:spPr>
          <a:xfrm>
            <a:off x="5785721" y="6018979"/>
            <a:ext cx="1786653" cy="367473"/>
          </a:xfrm>
          <a:prstGeom prst="roundRect">
            <a:avLst/>
          </a:prstGeom>
          <a:noFill/>
          <a:ln w="38100">
            <a:solidFill>
              <a:srgbClr val="9966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256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8796362-5882-C881-4869-23DC9782F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831" y="178665"/>
            <a:ext cx="8902337" cy="650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46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BB64A-8C8F-D407-34FF-0A1ECF85F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Pairwise Meeting Chance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8EA3C-B03E-80E9-1013-F614132F6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We need the conditional meeting chance</a:t>
            </a:r>
          </a:p>
          <a:p>
            <a:pPr lvl="1"/>
            <a:r>
              <a:rPr lang="en-US" dirty="0"/>
              <a:t>Given that the robot never met an informed robot, what is the chance of meeting an informed robot in the next step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DBB353-B892-1B7E-595C-CCEC2879AB2C}"/>
                  </a:ext>
                </a:extLst>
              </p:cNvPr>
              <p:cNvSpPr txBox="1"/>
              <p:nvPr/>
            </p:nvSpPr>
            <p:spPr>
              <a:xfrm>
                <a:off x="2634280" y="3452976"/>
                <a:ext cx="5034199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𝑓𝑖𝑟𝑠𝑡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)=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3DBB353-B892-1B7E-595C-CCEC2879A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280" y="3452976"/>
                <a:ext cx="5034199" cy="281937"/>
              </a:xfrm>
              <a:prstGeom prst="rect">
                <a:avLst/>
              </a:prstGeom>
              <a:blipFill>
                <a:blip r:embed="rId2"/>
                <a:stretch>
                  <a:fillRect l="-605" t="-2128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BE7E259-989A-42DB-9C86-8375F4D87939}"/>
              </a:ext>
            </a:extLst>
          </p:cNvPr>
          <p:cNvSpPr txBox="1"/>
          <p:nvPr/>
        </p:nvSpPr>
        <p:spPr>
          <a:xfrm>
            <a:off x="4888367" y="3170314"/>
            <a:ext cx="2607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1s at collision states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9468C1-7D7D-AF3D-20E0-A276FC989558}"/>
              </a:ext>
            </a:extLst>
          </p:cNvPr>
          <p:cNvSpPr txBox="1"/>
          <p:nvPr/>
        </p:nvSpPr>
        <p:spPr>
          <a:xfrm>
            <a:off x="6657975" y="4096329"/>
            <a:ext cx="2607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Space distribution never met from 0 to k-1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0BE3B71-D68A-EF17-60A4-26D8DF5EF1BC}"/>
              </a:ext>
            </a:extLst>
          </p:cNvPr>
          <p:cNvSpPr/>
          <p:nvPr/>
        </p:nvSpPr>
        <p:spPr>
          <a:xfrm rot="5400000">
            <a:off x="7125822" y="3440264"/>
            <a:ext cx="170059" cy="915254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4D8E54-AD9C-03F8-44B4-6F80746623AD}"/>
                  </a:ext>
                </a:extLst>
              </p:cNvPr>
              <p:cNvSpPr txBox="1"/>
              <p:nvPr/>
            </p:nvSpPr>
            <p:spPr>
              <a:xfrm>
                <a:off x="1209217" y="4958442"/>
                <a:ext cx="6813597" cy="5960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𝑒𝑒𝑡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𝑛𝑒𝑣𝑒𝑟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𝑏𝑒𝑓𝑜𝑟𝑒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)=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𝑓𝑖𝑟𝑠𝑡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𝑚𝑒𝑒𝑡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Pr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𝑓𝑖𝑟𝑠𝑡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𝑚𝑒𝑒𝑡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func>
                                </m:e>
                              </m:nary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4D8E54-AD9C-03F8-44B4-6F8074662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217" y="4958442"/>
                <a:ext cx="6813597" cy="5960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47066C0-2779-0105-44A9-40951EFB1D62}"/>
              </a:ext>
            </a:extLst>
          </p:cNvPr>
          <p:cNvSpPr txBox="1"/>
          <p:nvPr/>
        </p:nvSpPr>
        <p:spPr>
          <a:xfrm>
            <a:off x="8230254" y="5167312"/>
            <a:ext cx="316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(Probably can be simplified)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6EEE83-8AB2-69B3-AB86-E6F674F10483}"/>
              </a:ext>
            </a:extLst>
          </p:cNvPr>
          <p:cNvSpPr txBox="1"/>
          <p:nvPr/>
        </p:nvSpPr>
        <p:spPr>
          <a:xfrm>
            <a:off x="190499" y="5761909"/>
            <a:ext cx="11410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Interesting</a:t>
            </a:r>
            <a:r>
              <a:rPr lang="zh-TW" altLang="en-US" dirty="0"/>
              <a:t> </a:t>
            </a:r>
            <a:r>
              <a:rPr lang="en-US" altLang="zh-TW" dirty="0"/>
              <a:t>effect: the longer K is, the lower this probability is, but approach a fix value for very big 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Interpretation: if they haven’t meet in a long time, they probably are initially very far away in the region graph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718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F17C4-827E-8A4E-0548-82408ABCF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varying first hit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88315B-35FD-F4B5-19AF-272BAD8269BD}"/>
                  </a:ext>
                </a:extLst>
              </p:cNvPr>
              <p:cNvSpPr txBox="1"/>
              <p:nvPr/>
            </p:nvSpPr>
            <p:spPr>
              <a:xfrm>
                <a:off x="701741" y="2169146"/>
                <a:ext cx="4860626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𝑜𝑛𝑐𝑒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𝑤𝑖𝑡h𝑖𝑛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88315B-35FD-F4B5-19AF-272BAD826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41" y="2169146"/>
                <a:ext cx="4860626" cy="281937"/>
              </a:xfrm>
              <a:prstGeom prst="rect">
                <a:avLst/>
              </a:prstGeom>
              <a:blipFill>
                <a:blip r:embed="rId2"/>
                <a:stretch>
                  <a:fillRect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907377F-F0FD-0DD5-9655-35B11A82FD78}"/>
              </a:ext>
            </a:extLst>
          </p:cNvPr>
          <p:cNvSpPr txBox="1"/>
          <p:nvPr/>
        </p:nvSpPr>
        <p:spPr>
          <a:xfrm>
            <a:off x="5895974" y="2125448"/>
            <a:ext cx="336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first hit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2D6F79-5975-A027-D9D9-427D7F01FF91}"/>
                  </a:ext>
                </a:extLst>
              </p:cNvPr>
              <p:cNvSpPr txBox="1"/>
              <p:nvPr/>
            </p:nvSpPr>
            <p:spPr>
              <a:xfrm>
                <a:off x="625541" y="2929541"/>
                <a:ext cx="5738238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𝑚𝑒𝑒𝑡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𝑙𝑒𝑎𝑠𝑡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𝑜𝑛𝑐𝑒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𝑤𝑖𝑡h𝑖𝑛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2D6F79-5975-A027-D9D9-427D7F01F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41" y="2929541"/>
                <a:ext cx="5738238" cy="891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98F63CC-E231-F0C3-A7D1-53A32334058C}"/>
              </a:ext>
            </a:extLst>
          </p:cNvPr>
          <p:cNvSpPr txBox="1"/>
          <p:nvPr/>
        </p:nvSpPr>
        <p:spPr>
          <a:xfrm>
            <a:off x="6438900" y="3244334"/>
            <a:ext cx="3362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varying first hit model</a:t>
            </a:r>
          </a:p>
        </p:txBody>
      </p:sp>
    </p:spTree>
    <p:extLst>
      <p:ext uri="{BB962C8B-B14F-4D97-AF65-F5344CB8AC3E}">
        <p14:creationId xmlns:p14="http://schemas.microsoft.com/office/powerpoint/2010/main" val="3918418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035A2B-82E4-60A9-CF9D-4591451D5021}"/>
              </a:ext>
            </a:extLst>
          </p:cNvPr>
          <p:cNvSpPr/>
          <p:nvPr/>
        </p:nvSpPr>
        <p:spPr>
          <a:xfrm>
            <a:off x="1924050" y="3267075"/>
            <a:ext cx="2247900" cy="341947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31E73C-0C32-A266-D322-49434C1B2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Region-aware absorbing chain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7551AB-B40E-32DA-D303-BDD1CD3F3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372" y="1895452"/>
            <a:ext cx="5396704" cy="120075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3FD0748-E299-F720-1116-0F84443084E6}"/>
              </a:ext>
            </a:extLst>
          </p:cNvPr>
          <p:cNvSpPr/>
          <p:nvPr/>
        </p:nvSpPr>
        <p:spPr>
          <a:xfrm>
            <a:off x="2798363" y="5325790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5A1352-F43C-F1F6-0F80-86146345A0B1}"/>
              </a:ext>
            </a:extLst>
          </p:cNvPr>
          <p:cNvSpPr/>
          <p:nvPr/>
        </p:nvSpPr>
        <p:spPr>
          <a:xfrm>
            <a:off x="2053271" y="4114287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6840DA-9B24-F88B-A0D4-C64DA0241712}"/>
              </a:ext>
            </a:extLst>
          </p:cNvPr>
          <p:cNvCxnSpPr>
            <a:cxnSpLocks/>
            <a:stCxn id="7" idx="4"/>
            <a:endCxn id="5" idx="1"/>
          </p:cNvCxnSpPr>
          <p:nvPr/>
        </p:nvCxnSpPr>
        <p:spPr>
          <a:xfrm>
            <a:off x="2545795" y="5099334"/>
            <a:ext cx="396825" cy="370713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F2B631-E529-1733-AFE5-B47EC62FB27E}"/>
                  </a:ext>
                </a:extLst>
              </p:cNvPr>
              <p:cNvSpPr txBox="1"/>
              <p:nvPr/>
            </p:nvSpPr>
            <p:spPr>
              <a:xfrm>
                <a:off x="2219168" y="4319874"/>
                <a:ext cx="714375" cy="573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F2B631-E529-1733-AFE5-B47EC62FB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168" y="4319874"/>
                <a:ext cx="714375" cy="5738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0BA5C3-7F84-9B99-55A2-7D045BBB3F4B}"/>
                  </a:ext>
                </a:extLst>
              </p:cNvPr>
              <p:cNvSpPr txBox="1"/>
              <p:nvPr/>
            </p:nvSpPr>
            <p:spPr>
              <a:xfrm>
                <a:off x="2885996" y="5530671"/>
                <a:ext cx="809782" cy="5752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0BA5C3-7F84-9B99-55A2-7D045BBB3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996" y="5530671"/>
                <a:ext cx="809782" cy="5752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5621FF8-F481-351D-6DE7-917C1DCBC834}"/>
              </a:ext>
            </a:extLst>
          </p:cNvPr>
          <p:cNvSpPr txBox="1"/>
          <p:nvPr/>
        </p:nvSpPr>
        <p:spPr>
          <a:xfrm>
            <a:off x="2126084" y="3412093"/>
            <a:ext cx="18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informed</a:t>
            </a:r>
            <a:r>
              <a:rPr lang="zh-TW" altLang="en-US" dirty="0"/>
              <a:t> </a:t>
            </a:r>
            <a:r>
              <a:rPr lang="en-US" altLang="zh-TW" dirty="0"/>
              <a:t>robot</a:t>
            </a:r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E54699E-1362-DAAF-4772-F55BCCF50F04}"/>
              </a:ext>
            </a:extLst>
          </p:cNvPr>
          <p:cNvSpPr/>
          <p:nvPr/>
        </p:nvSpPr>
        <p:spPr>
          <a:xfrm>
            <a:off x="5476875" y="3224499"/>
            <a:ext cx="2247900" cy="341947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0E9B46-CB94-47CF-9F9B-2804AC7F993C}"/>
              </a:ext>
            </a:extLst>
          </p:cNvPr>
          <p:cNvSpPr txBox="1"/>
          <p:nvPr/>
        </p:nvSpPr>
        <p:spPr>
          <a:xfrm>
            <a:off x="130891" y="4249909"/>
            <a:ext cx="1666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 uninformed robot in region 1,</a:t>
            </a:r>
          </a:p>
          <a:p>
            <a:r>
              <a:rPr lang="en-US" sz="1200" dirty="0"/>
              <a:t>1 informed robot in region 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B77A243-F72B-1549-D5EC-E01997716286}"/>
              </a:ext>
            </a:extLst>
          </p:cNvPr>
          <p:cNvCxnSpPr>
            <a:cxnSpLocks/>
            <a:stCxn id="7" idx="6"/>
            <a:endCxn id="26" idx="2"/>
          </p:cNvCxnSpPr>
          <p:nvPr/>
        </p:nvCxnSpPr>
        <p:spPr>
          <a:xfrm flipV="1">
            <a:off x="3038318" y="4497826"/>
            <a:ext cx="3131106" cy="108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E113C09-6C81-00DA-A2FF-E31F2B67BDA6}"/>
              </a:ext>
            </a:extLst>
          </p:cNvPr>
          <p:cNvCxnSpPr>
            <a:cxnSpLocks/>
            <a:stCxn id="5" idx="6"/>
            <a:endCxn id="30" idx="2"/>
          </p:cNvCxnSpPr>
          <p:nvPr/>
        </p:nvCxnSpPr>
        <p:spPr>
          <a:xfrm>
            <a:off x="3783410" y="5818314"/>
            <a:ext cx="2386014" cy="102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D64603F3-5452-A45C-DDA1-E217EC08463F}"/>
              </a:ext>
            </a:extLst>
          </p:cNvPr>
          <p:cNvSpPr/>
          <p:nvPr/>
        </p:nvSpPr>
        <p:spPr>
          <a:xfrm>
            <a:off x="6169424" y="4005302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EE556BC-A544-92ED-8117-719146412726}"/>
                  </a:ext>
                </a:extLst>
              </p:cNvPr>
              <p:cNvSpPr txBox="1"/>
              <p:nvPr/>
            </p:nvSpPr>
            <p:spPr>
              <a:xfrm>
                <a:off x="6335321" y="4210889"/>
                <a:ext cx="714375" cy="573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EE556BC-A544-92ED-8117-719146412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321" y="4210889"/>
                <a:ext cx="714375" cy="5738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29">
            <a:extLst>
              <a:ext uri="{FF2B5EF4-FFF2-40B4-BE49-F238E27FC236}">
                <a16:creationId xmlns:a16="http://schemas.microsoft.com/office/drawing/2014/main" id="{851AFCE1-5DC3-EB70-0A2A-49FA899ABB44}"/>
              </a:ext>
            </a:extLst>
          </p:cNvPr>
          <p:cNvSpPr/>
          <p:nvPr/>
        </p:nvSpPr>
        <p:spPr>
          <a:xfrm>
            <a:off x="6169424" y="5428673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FDFEE98-2453-E459-0EAB-F26DA47CB7B0}"/>
                  </a:ext>
                </a:extLst>
              </p:cNvPr>
              <p:cNvSpPr txBox="1"/>
              <p:nvPr/>
            </p:nvSpPr>
            <p:spPr>
              <a:xfrm>
                <a:off x="6335321" y="5634260"/>
                <a:ext cx="714375" cy="573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FDFEE98-2453-E459-0EAB-F26DA47CB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321" y="5634260"/>
                <a:ext cx="714375" cy="5738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F80C508-29E6-F149-5E6B-D44DB63B0A4A}"/>
              </a:ext>
            </a:extLst>
          </p:cNvPr>
          <p:cNvCxnSpPr>
            <a:cxnSpLocks/>
            <a:stCxn id="26" idx="4"/>
            <a:endCxn id="30" idx="0"/>
          </p:cNvCxnSpPr>
          <p:nvPr/>
        </p:nvCxnSpPr>
        <p:spPr>
          <a:xfrm>
            <a:off x="6661948" y="4990349"/>
            <a:ext cx="0" cy="438324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93F5F22-952A-1BD0-B522-17383B27DC55}"/>
              </a:ext>
            </a:extLst>
          </p:cNvPr>
          <p:cNvSpPr txBox="1"/>
          <p:nvPr/>
        </p:nvSpPr>
        <p:spPr>
          <a:xfrm>
            <a:off x="5678909" y="3382312"/>
            <a:ext cx="18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informed</a:t>
            </a:r>
            <a:r>
              <a:rPr lang="zh-TW" altLang="en-US" dirty="0"/>
              <a:t> </a:t>
            </a:r>
            <a:r>
              <a:rPr lang="en-US" altLang="zh-TW" dirty="0"/>
              <a:t>robot</a:t>
            </a:r>
            <a:endParaRPr lang="en-US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4ACED1E-2C9A-BF70-2FBF-C31DE5941ED9}"/>
              </a:ext>
            </a:extLst>
          </p:cNvPr>
          <p:cNvSpPr/>
          <p:nvPr/>
        </p:nvSpPr>
        <p:spPr>
          <a:xfrm>
            <a:off x="8522255" y="3237987"/>
            <a:ext cx="2247900" cy="341947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29F6452-19B8-BF01-E48C-0AEC7513AEC3}"/>
              </a:ext>
            </a:extLst>
          </p:cNvPr>
          <p:cNvSpPr/>
          <p:nvPr/>
        </p:nvSpPr>
        <p:spPr>
          <a:xfrm>
            <a:off x="8661158" y="3896480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12DDB2-BCC4-3728-B695-DF97997E6F27}"/>
                  </a:ext>
                </a:extLst>
              </p:cNvPr>
              <p:cNvSpPr txBox="1"/>
              <p:nvPr/>
            </p:nvSpPr>
            <p:spPr>
              <a:xfrm>
                <a:off x="8805415" y="4120276"/>
                <a:ext cx="714375" cy="573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12DDB2-BCC4-3728-B695-DF97997E6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415" y="4120276"/>
                <a:ext cx="714375" cy="5738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>
            <a:extLst>
              <a:ext uri="{FF2B5EF4-FFF2-40B4-BE49-F238E27FC236}">
                <a16:creationId xmlns:a16="http://schemas.microsoft.com/office/drawing/2014/main" id="{0C754121-0F69-BB0B-4373-BCD45CBB5EB3}"/>
              </a:ext>
            </a:extLst>
          </p:cNvPr>
          <p:cNvSpPr/>
          <p:nvPr/>
        </p:nvSpPr>
        <p:spPr>
          <a:xfrm>
            <a:off x="9646205" y="4719059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9D2DD62-8839-4A85-9C93-66F27FC65024}"/>
                  </a:ext>
                </a:extLst>
              </p:cNvPr>
              <p:cNvSpPr txBox="1"/>
              <p:nvPr/>
            </p:nvSpPr>
            <p:spPr>
              <a:xfrm>
                <a:off x="9768044" y="4981797"/>
                <a:ext cx="714375" cy="573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9D2DD62-8839-4A85-9C93-66F27FC65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044" y="4981797"/>
                <a:ext cx="714375" cy="5738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216F03E-2DAC-ADBE-8E98-2F39DFC7EA56}"/>
              </a:ext>
            </a:extLst>
          </p:cNvPr>
          <p:cNvCxnSpPr>
            <a:cxnSpLocks/>
            <a:stCxn id="41" idx="5"/>
            <a:endCxn id="43" idx="1"/>
          </p:cNvCxnSpPr>
          <p:nvPr/>
        </p:nvCxnSpPr>
        <p:spPr>
          <a:xfrm>
            <a:off x="9501948" y="4737270"/>
            <a:ext cx="288514" cy="126046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DF613DD-99AF-64D6-A689-660C1C624703}"/>
              </a:ext>
            </a:extLst>
          </p:cNvPr>
          <p:cNvSpPr txBox="1"/>
          <p:nvPr/>
        </p:nvSpPr>
        <p:spPr>
          <a:xfrm>
            <a:off x="8724289" y="3395800"/>
            <a:ext cx="18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informed</a:t>
            </a:r>
            <a:r>
              <a:rPr lang="zh-TW" altLang="en-US" dirty="0"/>
              <a:t> </a:t>
            </a:r>
            <a:r>
              <a:rPr lang="en-US" altLang="zh-TW" dirty="0"/>
              <a:t>robot</a:t>
            </a:r>
            <a:endParaRPr lang="en-US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A9A906C-736B-7970-0FF3-A2109FDEB326}"/>
              </a:ext>
            </a:extLst>
          </p:cNvPr>
          <p:cNvCxnSpPr>
            <a:stCxn id="26" idx="6"/>
            <a:endCxn id="41" idx="2"/>
          </p:cNvCxnSpPr>
          <p:nvPr/>
        </p:nvCxnSpPr>
        <p:spPr>
          <a:xfrm flipV="1">
            <a:off x="7154471" y="4389004"/>
            <a:ext cx="1506687" cy="1088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3BDECB9-0A14-4490-7EF9-DC1DC18F2E8A}"/>
              </a:ext>
            </a:extLst>
          </p:cNvPr>
          <p:cNvCxnSpPr>
            <a:stCxn id="30" idx="6"/>
            <a:endCxn id="43" idx="2"/>
          </p:cNvCxnSpPr>
          <p:nvPr/>
        </p:nvCxnSpPr>
        <p:spPr>
          <a:xfrm flipV="1">
            <a:off x="7154471" y="5211583"/>
            <a:ext cx="2491734" cy="7096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70E9CB2D-4A26-14F5-4303-D13505040B9E}"/>
              </a:ext>
            </a:extLst>
          </p:cNvPr>
          <p:cNvCxnSpPr>
            <a:stCxn id="7" idx="7"/>
            <a:endCxn id="41" idx="1"/>
          </p:cNvCxnSpPr>
          <p:nvPr/>
        </p:nvCxnSpPr>
        <p:spPr>
          <a:xfrm rot="5400000" flipH="1" flipV="1">
            <a:off x="5740835" y="1193964"/>
            <a:ext cx="217807" cy="5911354"/>
          </a:xfrm>
          <a:prstGeom prst="curvedConnector3">
            <a:avLst>
              <a:gd name="adj1" fmla="val 2711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D17C6172-BA16-EC0D-9194-B8953FCF8C93}"/>
              </a:ext>
            </a:extLst>
          </p:cNvPr>
          <p:cNvCxnSpPr>
            <a:cxnSpLocks/>
            <a:stCxn id="5" idx="4"/>
            <a:endCxn id="75" idx="3"/>
          </p:cNvCxnSpPr>
          <p:nvPr/>
        </p:nvCxnSpPr>
        <p:spPr>
          <a:xfrm rot="16200000" flipH="1">
            <a:off x="6064106" y="3537617"/>
            <a:ext cx="109668" cy="5656107"/>
          </a:xfrm>
          <a:prstGeom prst="curvedConnector3">
            <a:avLst>
              <a:gd name="adj1" fmla="val 4399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71B95E8-65B8-AF28-710E-07B8E94C53CE}"/>
              </a:ext>
            </a:extLst>
          </p:cNvPr>
          <p:cNvSpPr txBox="1"/>
          <p:nvPr/>
        </p:nvSpPr>
        <p:spPr>
          <a:xfrm>
            <a:off x="838200" y="2262491"/>
            <a:ext cx="1580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Expand nodes to sub-graphs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524ADC50-D674-FFF9-2F68-B3DEC1F1712C}"/>
              </a:ext>
            </a:extLst>
          </p:cNvPr>
          <p:cNvSpPr/>
          <p:nvPr/>
        </p:nvSpPr>
        <p:spPr>
          <a:xfrm>
            <a:off x="8802737" y="5579715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7B266C4-5065-DBA7-691A-EAB608B2418F}"/>
                  </a:ext>
                </a:extLst>
              </p:cNvPr>
              <p:cNvSpPr txBox="1"/>
              <p:nvPr/>
            </p:nvSpPr>
            <p:spPr>
              <a:xfrm>
                <a:off x="8946994" y="5803511"/>
                <a:ext cx="714375" cy="573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7B266C4-5065-DBA7-691A-EAB608B24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6994" y="5803511"/>
                <a:ext cx="714375" cy="5738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6C0A99D-6287-21D2-32E3-97404C0D60CE}"/>
              </a:ext>
            </a:extLst>
          </p:cNvPr>
          <p:cNvCxnSpPr>
            <a:cxnSpLocks/>
            <a:stCxn id="75" idx="7"/>
            <a:endCxn id="43" idx="3"/>
          </p:cNvCxnSpPr>
          <p:nvPr/>
        </p:nvCxnSpPr>
        <p:spPr>
          <a:xfrm flipV="1">
            <a:off x="9643527" y="5559849"/>
            <a:ext cx="146935" cy="164123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637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FB65B-3723-B5CC-7423-60B9E285A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890" y="344745"/>
            <a:ext cx="10515600" cy="1325563"/>
          </a:xfrm>
        </p:spPr>
        <p:txBody>
          <a:bodyPr/>
          <a:lstStyle/>
          <a:p>
            <a:r>
              <a:rPr lang="en-US" dirty="0"/>
              <a:t>1 robot getting informed in 1 step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7BFEBD-25FD-1D1E-B9BA-6EE561463FCA}"/>
              </a:ext>
            </a:extLst>
          </p:cNvPr>
          <p:cNvSpPr/>
          <p:nvPr/>
        </p:nvSpPr>
        <p:spPr>
          <a:xfrm>
            <a:off x="4191590" y="2353049"/>
            <a:ext cx="3110698" cy="3802913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55251F4-5DE3-D9CE-BBEE-2BEA0C4EF00C}"/>
              </a:ext>
            </a:extLst>
          </p:cNvPr>
          <p:cNvSpPr/>
          <p:nvPr/>
        </p:nvSpPr>
        <p:spPr>
          <a:xfrm>
            <a:off x="5400717" y="3133852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E3B16F-CD8B-CDB1-D213-115EF77E68B8}"/>
                  </a:ext>
                </a:extLst>
              </p:cNvPr>
              <p:cNvSpPr txBox="1"/>
              <p:nvPr/>
            </p:nvSpPr>
            <p:spPr>
              <a:xfrm>
                <a:off x="5566614" y="3339439"/>
                <a:ext cx="714375" cy="383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E3B16F-CD8B-CDB1-D213-115EF77E6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6614" y="3339439"/>
                <a:ext cx="714375" cy="383438"/>
              </a:xfrm>
              <a:prstGeom prst="rect">
                <a:avLst/>
              </a:prstGeom>
              <a:blipFill>
                <a:blip r:embed="rId2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3C4D5590-00EE-A4A7-D182-F9B61079A0B4}"/>
              </a:ext>
            </a:extLst>
          </p:cNvPr>
          <p:cNvSpPr/>
          <p:nvPr/>
        </p:nvSpPr>
        <p:spPr>
          <a:xfrm>
            <a:off x="5400717" y="4557223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560180-D434-9C52-E65F-ED5B276FDD07}"/>
                  </a:ext>
                </a:extLst>
              </p:cNvPr>
              <p:cNvSpPr txBox="1"/>
              <p:nvPr/>
            </p:nvSpPr>
            <p:spPr>
              <a:xfrm>
                <a:off x="5566614" y="4762810"/>
                <a:ext cx="714375" cy="383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560180-D434-9C52-E65F-ED5B276FD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6614" y="4762810"/>
                <a:ext cx="714375" cy="383438"/>
              </a:xfrm>
              <a:prstGeom prst="rect">
                <a:avLst/>
              </a:prstGeom>
              <a:blipFill>
                <a:blip r:embed="rId3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B903146-88D0-C704-4EE2-120C306974AD}"/>
              </a:ext>
            </a:extLst>
          </p:cNvPr>
          <p:cNvSpPr txBox="1"/>
          <p:nvPr/>
        </p:nvSpPr>
        <p:spPr>
          <a:xfrm>
            <a:off x="5271005" y="2414778"/>
            <a:ext cx="18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Uninformed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B8E2D9-F286-9CFA-5666-63C794872FE8}"/>
              </a:ext>
            </a:extLst>
          </p:cNvPr>
          <p:cNvSpPr/>
          <p:nvPr/>
        </p:nvSpPr>
        <p:spPr>
          <a:xfrm>
            <a:off x="8674385" y="1700388"/>
            <a:ext cx="2130067" cy="498843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D88392C-F9F0-7F9E-EC53-DCECAE6B93B1}"/>
              </a:ext>
            </a:extLst>
          </p:cNvPr>
          <p:cNvGrpSpPr/>
          <p:nvPr/>
        </p:nvGrpSpPr>
        <p:grpSpPr>
          <a:xfrm>
            <a:off x="9425527" y="2163514"/>
            <a:ext cx="985047" cy="985047"/>
            <a:chOff x="7051433" y="2162930"/>
            <a:chExt cx="985047" cy="98504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6DB3A9E-7103-77D1-959F-B6A39F5040A7}"/>
                </a:ext>
              </a:extLst>
            </p:cNvPr>
            <p:cNvSpPr/>
            <p:nvPr/>
          </p:nvSpPr>
          <p:spPr>
            <a:xfrm>
              <a:off x="7051433" y="2162930"/>
              <a:ext cx="985047" cy="98504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8082B40-3C38-D937-5AE8-AC3E442CA27E}"/>
                    </a:ext>
                  </a:extLst>
                </p:cNvPr>
                <p:cNvSpPr txBox="1"/>
                <p:nvPr/>
              </p:nvSpPr>
              <p:spPr>
                <a:xfrm>
                  <a:off x="7177695" y="2498538"/>
                  <a:ext cx="714375" cy="3834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8082B40-3C38-D937-5AE8-AC3E442CA2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7695" y="2498538"/>
                  <a:ext cx="714375" cy="383438"/>
                </a:xfrm>
                <a:prstGeom prst="rect">
                  <a:avLst/>
                </a:prstGeom>
                <a:blipFill>
                  <a:blip r:embed="rId4"/>
                  <a:stretch>
                    <a:fillRect b="-126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817A710-855E-9AE9-407D-3009BF67DB4C}"/>
              </a:ext>
            </a:extLst>
          </p:cNvPr>
          <p:cNvGrpSpPr/>
          <p:nvPr/>
        </p:nvGrpSpPr>
        <p:grpSpPr>
          <a:xfrm>
            <a:off x="9480921" y="3279929"/>
            <a:ext cx="985047" cy="985047"/>
            <a:chOff x="8578053" y="4145901"/>
            <a:chExt cx="985047" cy="985047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EF7F4B5-4761-8F34-8FC6-09034750DD5D}"/>
                </a:ext>
              </a:extLst>
            </p:cNvPr>
            <p:cNvSpPr/>
            <p:nvPr/>
          </p:nvSpPr>
          <p:spPr>
            <a:xfrm>
              <a:off x="8578053" y="4145901"/>
              <a:ext cx="985047" cy="98504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F6AC064-6D0D-7BD7-002D-D8DEB18640B6}"/>
                    </a:ext>
                  </a:extLst>
                </p:cNvPr>
                <p:cNvSpPr txBox="1"/>
                <p:nvPr/>
              </p:nvSpPr>
              <p:spPr>
                <a:xfrm>
                  <a:off x="8734581" y="4415747"/>
                  <a:ext cx="714375" cy="3834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F6AC064-6D0D-7BD7-002D-D8DEB18640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4581" y="4415747"/>
                  <a:ext cx="714375" cy="383438"/>
                </a:xfrm>
                <a:prstGeom prst="rect">
                  <a:avLst/>
                </a:prstGeom>
                <a:blipFill>
                  <a:blip r:embed="rId5"/>
                  <a:stretch>
                    <a:fillRect b="-126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3648A99-DAA4-B783-D31A-182CEDDF61F9}"/>
              </a:ext>
            </a:extLst>
          </p:cNvPr>
          <p:cNvSpPr txBox="1"/>
          <p:nvPr/>
        </p:nvSpPr>
        <p:spPr>
          <a:xfrm>
            <a:off x="9560980" y="1740394"/>
            <a:ext cx="18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meet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9936B6-81A7-DC40-3A00-5E8D520787FF}"/>
              </a:ext>
            </a:extLst>
          </p:cNvPr>
          <p:cNvCxnSpPr>
            <a:stCxn id="5" idx="6"/>
            <a:endCxn id="12" idx="2"/>
          </p:cNvCxnSpPr>
          <p:nvPr/>
        </p:nvCxnSpPr>
        <p:spPr>
          <a:xfrm flipV="1">
            <a:off x="6385764" y="2656038"/>
            <a:ext cx="3039763" cy="970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4349A6-A674-7E35-8EFF-515E79A77F70}"/>
              </a:ext>
            </a:extLst>
          </p:cNvPr>
          <p:cNvCxnSpPr>
            <a:stCxn id="7" idx="6"/>
            <a:endCxn id="14" idx="2"/>
          </p:cNvCxnSpPr>
          <p:nvPr/>
        </p:nvCxnSpPr>
        <p:spPr>
          <a:xfrm flipV="1">
            <a:off x="6385764" y="3772453"/>
            <a:ext cx="3095157" cy="1277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F558AD4-1C2E-E2DA-7731-B44DABBB3E25}"/>
              </a:ext>
            </a:extLst>
          </p:cNvPr>
          <p:cNvGrpSpPr/>
          <p:nvPr/>
        </p:nvGrpSpPr>
        <p:grpSpPr>
          <a:xfrm>
            <a:off x="9497849" y="5548728"/>
            <a:ext cx="985047" cy="985047"/>
            <a:chOff x="7193012" y="3846165"/>
            <a:chExt cx="985047" cy="985047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AC08E28-B3EF-C210-4879-2BB6AAC6138A}"/>
                </a:ext>
              </a:extLst>
            </p:cNvPr>
            <p:cNvSpPr/>
            <p:nvPr/>
          </p:nvSpPr>
          <p:spPr>
            <a:xfrm>
              <a:off x="7193012" y="3846165"/>
              <a:ext cx="985047" cy="98504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C421B62-5BF9-F6D1-8BA7-7DD0A24192A1}"/>
                    </a:ext>
                  </a:extLst>
                </p:cNvPr>
                <p:cNvSpPr txBox="1"/>
                <p:nvPr/>
              </p:nvSpPr>
              <p:spPr>
                <a:xfrm>
                  <a:off x="7337269" y="4069961"/>
                  <a:ext cx="714375" cy="3834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C421B62-5BF9-F6D1-8BA7-7DD0A24192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7269" y="4069961"/>
                  <a:ext cx="714375" cy="383438"/>
                </a:xfrm>
                <a:prstGeom prst="rect">
                  <a:avLst/>
                </a:prstGeom>
                <a:blipFill>
                  <a:blip r:embed="rId6"/>
                  <a:stretch>
                    <a:fillRect b="-126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1D2204F-F8E7-56E9-F861-C5ACA73AEC89}"/>
                  </a:ext>
                </a:extLst>
              </p:cNvPr>
              <p:cNvSpPr txBox="1"/>
              <p:nvPr/>
            </p:nvSpPr>
            <p:spPr>
              <a:xfrm>
                <a:off x="466725" y="1694045"/>
                <a:ext cx="15436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1D2204F-F8E7-56E9-F861-C5ACA73AE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5" y="1694045"/>
                <a:ext cx="154369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17759AAA-F800-F784-1DD4-6ADE96D92565}"/>
              </a:ext>
            </a:extLst>
          </p:cNvPr>
          <p:cNvGrpSpPr/>
          <p:nvPr/>
        </p:nvGrpSpPr>
        <p:grpSpPr>
          <a:xfrm>
            <a:off x="9506769" y="4353569"/>
            <a:ext cx="985047" cy="985047"/>
            <a:chOff x="8188880" y="3137909"/>
            <a:chExt cx="985047" cy="98504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EB74618-4C38-6A39-82B3-04E09F5C8698}"/>
                </a:ext>
              </a:extLst>
            </p:cNvPr>
            <p:cNvSpPr/>
            <p:nvPr/>
          </p:nvSpPr>
          <p:spPr>
            <a:xfrm>
              <a:off x="8188880" y="3137909"/>
              <a:ext cx="985047" cy="98504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959BFC2-77EA-B61B-71A6-8B009F75ACA8}"/>
                    </a:ext>
                  </a:extLst>
                </p:cNvPr>
                <p:cNvSpPr txBox="1"/>
                <p:nvPr/>
              </p:nvSpPr>
              <p:spPr>
                <a:xfrm>
                  <a:off x="8310719" y="3400647"/>
                  <a:ext cx="714375" cy="38343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eqArr>
                                    <m:eqArr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eqAr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959BFC2-77EA-B61B-71A6-8B009F75AC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0719" y="3400647"/>
                  <a:ext cx="714375" cy="383438"/>
                </a:xfrm>
                <a:prstGeom prst="rect">
                  <a:avLst/>
                </a:prstGeom>
                <a:blipFill>
                  <a:blip r:embed="rId8"/>
                  <a:stretch>
                    <a:fillRect b="-1269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199D8A7-ACF3-9A28-1062-409500B89D90}"/>
              </a:ext>
            </a:extLst>
          </p:cNvPr>
          <p:cNvCxnSpPr>
            <a:stCxn id="7" idx="6"/>
            <a:endCxn id="25" idx="2"/>
          </p:cNvCxnSpPr>
          <p:nvPr/>
        </p:nvCxnSpPr>
        <p:spPr>
          <a:xfrm flipV="1">
            <a:off x="6385764" y="4846093"/>
            <a:ext cx="3121005" cy="203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30DE47C-3D91-0C48-4C4B-F850730EA8DD}"/>
              </a:ext>
            </a:extLst>
          </p:cNvPr>
          <p:cNvCxnSpPr>
            <a:stCxn id="7" idx="6"/>
            <a:endCxn id="20" idx="2"/>
          </p:cNvCxnSpPr>
          <p:nvPr/>
        </p:nvCxnSpPr>
        <p:spPr>
          <a:xfrm>
            <a:off x="6385764" y="5049747"/>
            <a:ext cx="3112085" cy="9915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9311696-7EE8-E8CA-BB7F-E7469511A9BE}"/>
              </a:ext>
            </a:extLst>
          </p:cNvPr>
          <p:cNvCxnSpPr>
            <a:stCxn id="5" idx="6"/>
            <a:endCxn id="14" idx="2"/>
          </p:cNvCxnSpPr>
          <p:nvPr/>
        </p:nvCxnSpPr>
        <p:spPr>
          <a:xfrm>
            <a:off x="6385764" y="3626376"/>
            <a:ext cx="3095157" cy="146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28FBF9A-DD9C-63EE-6839-F1787A9F14F5}"/>
              </a:ext>
            </a:extLst>
          </p:cNvPr>
          <p:cNvCxnSpPr>
            <a:stCxn id="7" idx="6"/>
            <a:endCxn id="12" idx="2"/>
          </p:cNvCxnSpPr>
          <p:nvPr/>
        </p:nvCxnSpPr>
        <p:spPr>
          <a:xfrm flipV="1">
            <a:off x="6385764" y="2656038"/>
            <a:ext cx="3039763" cy="2393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77CE768-1F31-6190-FED6-33D1C2724E4B}"/>
              </a:ext>
            </a:extLst>
          </p:cNvPr>
          <p:cNvCxnSpPr>
            <a:stCxn id="5" idx="6"/>
            <a:endCxn id="25" idx="2"/>
          </p:cNvCxnSpPr>
          <p:nvPr/>
        </p:nvCxnSpPr>
        <p:spPr>
          <a:xfrm>
            <a:off x="6385764" y="3626376"/>
            <a:ext cx="3121005" cy="1219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A5FE183-55AD-819A-E307-38B7988B7294}"/>
              </a:ext>
            </a:extLst>
          </p:cNvPr>
          <p:cNvCxnSpPr>
            <a:stCxn id="5" idx="6"/>
            <a:endCxn id="20" idx="2"/>
          </p:cNvCxnSpPr>
          <p:nvPr/>
        </p:nvCxnSpPr>
        <p:spPr>
          <a:xfrm>
            <a:off x="6385764" y="3626376"/>
            <a:ext cx="3112085" cy="2414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57FDAD0-FFE1-69DF-B2B3-A5017D0AD579}"/>
                  </a:ext>
                </a:extLst>
              </p:cNvPr>
              <p:cNvSpPr txBox="1"/>
              <p:nvPr/>
            </p:nvSpPr>
            <p:spPr>
              <a:xfrm>
                <a:off x="661564" y="2513033"/>
                <a:ext cx="2520370" cy="6163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57FDAD0-FFE1-69DF-B2B3-A5017D0AD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64" y="2513033"/>
                <a:ext cx="2520370" cy="616387"/>
              </a:xfrm>
              <a:prstGeom prst="rect">
                <a:avLst/>
              </a:prstGeom>
              <a:blipFill>
                <a:blip r:embed="rId9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EB384F9-0A6F-7369-BE93-AFCF759D82D0}"/>
                  </a:ext>
                </a:extLst>
              </p:cNvPr>
              <p:cNvSpPr txBox="1"/>
              <p:nvPr/>
            </p:nvSpPr>
            <p:spPr>
              <a:xfrm>
                <a:off x="-286513" y="6426013"/>
                <a:ext cx="8956205" cy="3211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Inform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1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𝒢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,1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22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21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eqAr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𝒢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,2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EB384F9-0A6F-7369-BE93-AFCF759D8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6513" y="6426013"/>
                <a:ext cx="8956205" cy="321178"/>
              </a:xfrm>
              <a:prstGeom prst="rect">
                <a:avLst/>
              </a:prstGeom>
              <a:blipFill>
                <a:blip r:embed="rId10"/>
                <a:stretch>
                  <a:fillRect b="-22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7085480-8830-4991-0D14-D14DA7E58DA3}"/>
                  </a:ext>
                </a:extLst>
              </p:cNvPr>
              <p:cNvSpPr txBox="1"/>
              <p:nvPr/>
            </p:nvSpPr>
            <p:spPr>
              <a:xfrm>
                <a:off x="8270610" y="2463545"/>
                <a:ext cx="1394417" cy="279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7085480-8830-4991-0D14-D14DA7E58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610" y="2463545"/>
                <a:ext cx="1394417" cy="27956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04A388F-7E51-6C5D-6582-C958F32D151D}"/>
                  </a:ext>
                </a:extLst>
              </p:cNvPr>
              <p:cNvSpPr txBox="1"/>
              <p:nvPr/>
            </p:nvSpPr>
            <p:spPr>
              <a:xfrm>
                <a:off x="8388374" y="3438643"/>
                <a:ext cx="139441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04A388F-7E51-6C5D-6582-C958F32D1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374" y="3438643"/>
                <a:ext cx="1394417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1BF7001-6310-8215-61AD-E7C916E9C135}"/>
                  </a:ext>
                </a:extLst>
              </p:cNvPr>
              <p:cNvSpPr txBox="1"/>
              <p:nvPr/>
            </p:nvSpPr>
            <p:spPr>
              <a:xfrm>
                <a:off x="8434887" y="4314727"/>
                <a:ext cx="139441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1BF7001-6310-8215-61AD-E7C916E9C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4887" y="4314727"/>
                <a:ext cx="1394417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7AF7875-6C2A-FB25-D48C-5F4EFF60C981}"/>
                  </a:ext>
                </a:extLst>
              </p:cNvPr>
              <p:cNvSpPr txBox="1"/>
              <p:nvPr/>
            </p:nvSpPr>
            <p:spPr>
              <a:xfrm>
                <a:off x="8456300" y="5351700"/>
                <a:ext cx="139441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7AF7875-6C2A-FB25-D48C-5F4EFF60C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6300" y="5351700"/>
                <a:ext cx="1394417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A2AF60E-C47E-865B-9467-367F946140AD}"/>
                  </a:ext>
                </a:extLst>
              </p:cNvPr>
              <p:cNvSpPr txBox="1"/>
              <p:nvPr/>
            </p:nvSpPr>
            <p:spPr>
              <a:xfrm>
                <a:off x="8482302" y="2988502"/>
                <a:ext cx="1394417" cy="279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20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A2AF60E-C47E-865B-9467-367F94614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2302" y="2988502"/>
                <a:ext cx="1394417" cy="27956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4CEBD40-2C09-F722-3D4C-875CF6EC6CF1}"/>
                  </a:ext>
                </a:extLst>
              </p:cNvPr>
              <p:cNvSpPr txBox="1"/>
              <p:nvPr/>
            </p:nvSpPr>
            <p:spPr>
              <a:xfrm>
                <a:off x="8443768" y="4010133"/>
                <a:ext cx="1394417" cy="279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4CEBD40-2C09-F722-3D4C-875CF6EC6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3768" y="4010133"/>
                <a:ext cx="1394417" cy="27956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E30D424-85C8-5069-A423-93B9ED56360B}"/>
                  </a:ext>
                </a:extLst>
              </p:cNvPr>
              <p:cNvSpPr txBox="1"/>
              <p:nvPr/>
            </p:nvSpPr>
            <p:spPr>
              <a:xfrm>
                <a:off x="8422932" y="4886968"/>
                <a:ext cx="139441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E30D424-85C8-5069-A423-93B9ED563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932" y="4886968"/>
                <a:ext cx="1394417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C8A492B-4BD5-B1C9-C634-C670A317A814}"/>
                  </a:ext>
                </a:extLst>
              </p:cNvPr>
              <p:cNvSpPr txBox="1"/>
              <p:nvPr/>
            </p:nvSpPr>
            <p:spPr>
              <a:xfrm>
                <a:off x="8315269" y="5961281"/>
                <a:ext cx="139441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C8A492B-4BD5-B1C9-C634-C670A317A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5269" y="5961281"/>
                <a:ext cx="1394417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FEA158A-CB22-1B8C-CA1E-C9ECC63E1386}"/>
                  </a:ext>
                </a:extLst>
              </p:cNvPr>
              <p:cNvSpPr txBox="1"/>
              <p:nvPr/>
            </p:nvSpPr>
            <p:spPr>
              <a:xfrm>
                <a:off x="4605660" y="2921609"/>
                <a:ext cx="1394417" cy="279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FEA158A-CB22-1B8C-CA1E-C9ECC63E1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660" y="2921609"/>
                <a:ext cx="1394417" cy="27956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D96D64AC-A998-944C-9FD8-E145AE3BF7D1}"/>
              </a:ext>
            </a:extLst>
          </p:cNvPr>
          <p:cNvCxnSpPr>
            <a:cxnSpLocks/>
            <a:stCxn id="5" idx="1"/>
            <a:endCxn id="5" idx="7"/>
          </p:cNvCxnSpPr>
          <p:nvPr/>
        </p:nvCxnSpPr>
        <p:spPr>
          <a:xfrm rot="5400000" flipH="1" flipV="1">
            <a:off x="5893240" y="2929843"/>
            <a:ext cx="12700" cy="696533"/>
          </a:xfrm>
          <a:prstGeom prst="curvedConnector3">
            <a:avLst>
              <a:gd name="adj1" fmla="val 29358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Curved 79">
            <a:extLst>
              <a:ext uri="{FF2B5EF4-FFF2-40B4-BE49-F238E27FC236}">
                <a16:creationId xmlns:a16="http://schemas.microsoft.com/office/drawing/2014/main" id="{9042A923-D6AC-08B9-852D-C201B04E4512}"/>
              </a:ext>
            </a:extLst>
          </p:cNvPr>
          <p:cNvCxnSpPr>
            <a:cxnSpLocks/>
            <a:stCxn id="7" idx="5"/>
            <a:endCxn id="7" idx="3"/>
          </p:cNvCxnSpPr>
          <p:nvPr/>
        </p:nvCxnSpPr>
        <p:spPr>
          <a:xfrm rot="5400000">
            <a:off x="5893241" y="5049747"/>
            <a:ext cx="12700" cy="696533"/>
          </a:xfrm>
          <a:prstGeom prst="curvedConnector3">
            <a:avLst>
              <a:gd name="adj1" fmla="val 29358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C5C1214-D1F3-6A48-97E7-16CB013B119E}"/>
                  </a:ext>
                </a:extLst>
              </p:cNvPr>
              <p:cNvSpPr txBox="1"/>
              <p:nvPr/>
            </p:nvSpPr>
            <p:spPr>
              <a:xfrm>
                <a:off x="4563721" y="5422131"/>
                <a:ext cx="1394417" cy="279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C5C1214-D1F3-6A48-97E7-16CB013B1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721" y="5422131"/>
                <a:ext cx="1394417" cy="27956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0A77A05-8FD7-1FDC-80CB-2247A512EF9E}"/>
                  </a:ext>
                </a:extLst>
              </p:cNvPr>
              <p:cNvSpPr txBox="1"/>
              <p:nvPr/>
            </p:nvSpPr>
            <p:spPr>
              <a:xfrm>
                <a:off x="4545954" y="4221066"/>
                <a:ext cx="1394417" cy="279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0A77A05-8FD7-1FDC-80CB-2247A512E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954" y="4221066"/>
                <a:ext cx="1394417" cy="27956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995DA96-011B-F081-4563-24373B5B9101}"/>
                  </a:ext>
                </a:extLst>
              </p:cNvPr>
              <p:cNvSpPr txBox="1"/>
              <p:nvPr/>
            </p:nvSpPr>
            <p:spPr>
              <a:xfrm>
                <a:off x="5931979" y="4198279"/>
                <a:ext cx="1163306" cy="279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995DA96-011B-F081-4563-24373B5B9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1979" y="4198279"/>
                <a:ext cx="1163306" cy="27956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Connector: Curved 89">
            <a:extLst>
              <a:ext uri="{FF2B5EF4-FFF2-40B4-BE49-F238E27FC236}">
                <a16:creationId xmlns:a16="http://schemas.microsoft.com/office/drawing/2014/main" id="{100050A5-B589-B04E-7165-2158B0116AF7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181934" y="2656037"/>
            <a:ext cx="2218783" cy="970339"/>
          </a:xfrm>
          <a:prstGeom prst="curvedConnector3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Curved 91">
            <a:extLst>
              <a:ext uri="{FF2B5EF4-FFF2-40B4-BE49-F238E27FC236}">
                <a16:creationId xmlns:a16="http://schemas.microsoft.com/office/drawing/2014/main" id="{26AB3748-2CD8-4157-815A-2861E16D8482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3181934" y="3074490"/>
            <a:ext cx="2218783" cy="1975257"/>
          </a:xfrm>
          <a:prstGeom prst="curved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Curved 96">
            <a:extLst>
              <a:ext uri="{FF2B5EF4-FFF2-40B4-BE49-F238E27FC236}">
                <a16:creationId xmlns:a16="http://schemas.microsoft.com/office/drawing/2014/main" id="{A5FFD8AC-1C25-01C3-D602-4692D6DBCC63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rot="5400000">
            <a:off x="5181555" y="4338061"/>
            <a:ext cx="726838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Curved 107">
            <a:extLst>
              <a:ext uri="{FF2B5EF4-FFF2-40B4-BE49-F238E27FC236}">
                <a16:creationId xmlns:a16="http://schemas.microsoft.com/office/drawing/2014/main" id="{3191255E-846D-BB43-18F5-00B1D1E7DF7B}"/>
              </a:ext>
            </a:extLst>
          </p:cNvPr>
          <p:cNvCxnSpPr>
            <a:stCxn id="7" idx="7"/>
            <a:endCxn id="5" idx="5"/>
          </p:cNvCxnSpPr>
          <p:nvPr/>
        </p:nvCxnSpPr>
        <p:spPr>
          <a:xfrm rot="5400000" flipH="1" flipV="1">
            <a:off x="5878088" y="4338061"/>
            <a:ext cx="726838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2F9EFF-28F5-78D8-C8F2-8681ECD10758}"/>
              </a:ext>
            </a:extLst>
          </p:cNvPr>
          <p:cNvSpPr/>
          <p:nvPr/>
        </p:nvSpPr>
        <p:spPr>
          <a:xfrm>
            <a:off x="8095773" y="1162051"/>
            <a:ext cx="3941859" cy="567896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56A3E5-9BEB-064D-ED9F-FEE332D8B776}"/>
              </a:ext>
            </a:extLst>
          </p:cNvPr>
          <p:cNvSpPr txBox="1"/>
          <p:nvPr/>
        </p:nvSpPr>
        <p:spPr>
          <a:xfrm>
            <a:off x="9488658" y="1251908"/>
            <a:ext cx="184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informed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6AD901D-52E5-AEB8-BA7E-322131F4E197}"/>
              </a:ext>
            </a:extLst>
          </p:cNvPr>
          <p:cNvSpPr/>
          <p:nvPr/>
        </p:nvSpPr>
        <p:spPr>
          <a:xfrm>
            <a:off x="10946213" y="3087484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CDC130F-FAA9-FF83-80F5-5201857A9B47}"/>
                  </a:ext>
                </a:extLst>
              </p:cNvPr>
              <p:cNvSpPr txBox="1"/>
              <p:nvPr/>
            </p:nvSpPr>
            <p:spPr>
              <a:xfrm>
                <a:off x="11112110" y="3293071"/>
                <a:ext cx="714375" cy="383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CDC130F-FAA9-FF83-80F5-5201857A9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2110" y="3293071"/>
                <a:ext cx="714375" cy="383438"/>
              </a:xfrm>
              <a:prstGeom prst="rect">
                <a:avLst/>
              </a:prstGeom>
              <a:blipFill>
                <a:blip r:embed="rId23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Oval 43">
            <a:extLst>
              <a:ext uri="{FF2B5EF4-FFF2-40B4-BE49-F238E27FC236}">
                <a16:creationId xmlns:a16="http://schemas.microsoft.com/office/drawing/2014/main" id="{C1009247-DF0B-E467-638D-C9CB49D89B5F}"/>
              </a:ext>
            </a:extLst>
          </p:cNvPr>
          <p:cNvSpPr/>
          <p:nvPr/>
        </p:nvSpPr>
        <p:spPr>
          <a:xfrm>
            <a:off x="10946213" y="4510855"/>
            <a:ext cx="985047" cy="9850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B22FA9F-6912-63AE-919F-D1446EE49974}"/>
                  </a:ext>
                </a:extLst>
              </p:cNvPr>
              <p:cNvSpPr txBox="1"/>
              <p:nvPr/>
            </p:nvSpPr>
            <p:spPr>
              <a:xfrm>
                <a:off x="11112110" y="4716442"/>
                <a:ext cx="714375" cy="383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B22FA9F-6912-63AE-919F-D1446EE49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2110" y="4716442"/>
                <a:ext cx="714375" cy="383438"/>
              </a:xfrm>
              <a:prstGeom prst="rect">
                <a:avLst/>
              </a:prstGeom>
              <a:blipFill>
                <a:blip r:embed="rId24"/>
                <a:stretch>
                  <a:fillRect b="-12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9FBC718-014C-D5A9-C52B-F545607AC4F3}"/>
              </a:ext>
            </a:extLst>
          </p:cNvPr>
          <p:cNvCxnSpPr>
            <a:cxnSpLocks/>
            <a:stCxn id="40" idx="2"/>
            <a:endCxn id="12" idx="6"/>
          </p:cNvCxnSpPr>
          <p:nvPr/>
        </p:nvCxnSpPr>
        <p:spPr>
          <a:xfrm flipH="1" flipV="1">
            <a:off x="10410574" y="2656038"/>
            <a:ext cx="535639" cy="923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DD57E77-2D69-ACF5-9D8C-14533FE63005}"/>
              </a:ext>
            </a:extLst>
          </p:cNvPr>
          <p:cNvCxnSpPr>
            <a:cxnSpLocks/>
            <a:stCxn id="40" idx="2"/>
            <a:endCxn id="14" idx="6"/>
          </p:cNvCxnSpPr>
          <p:nvPr/>
        </p:nvCxnSpPr>
        <p:spPr>
          <a:xfrm flipH="1">
            <a:off x="10465968" y="3580008"/>
            <a:ext cx="480245" cy="192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53196-39E2-B78D-2294-D82675D9BDDB}"/>
              </a:ext>
            </a:extLst>
          </p:cNvPr>
          <p:cNvCxnSpPr>
            <a:stCxn id="40" idx="2"/>
            <a:endCxn id="25" idx="6"/>
          </p:cNvCxnSpPr>
          <p:nvPr/>
        </p:nvCxnSpPr>
        <p:spPr>
          <a:xfrm flipH="1">
            <a:off x="10491816" y="3580008"/>
            <a:ext cx="454397" cy="1266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49C5695-56D7-B048-79AC-EA037BA1AAD5}"/>
              </a:ext>
            </a:extLst>
          </p:cNvPr>
          <p:cNvCxnSpPr>
            <a:stCxn id="40" idx="2"/>
            <a:endCxn id="20" idx="6"/>
          </p:cNvCxnSpPr>
          <p:nvPr/>
        </p:nvCxnSpPr>
        <p:spPr>
          <a:xfrm flipH="1">
            <a:off x="10482896" y="3580008"/>
            <a:ext cx="463317" cy="2461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81BA65B-127A-88A9-B2F7-441070E8E7C6}"/>
              </a:ext>
            </a:extLst>
          </p:cNvPr>
          <p:cNvCxnSpPr>
            <a:stCxn id="44" idx="2"/>
            <a:endCxn id="12" idx="6"/>
          </p:cNvCxnSpPr>
          <p:nvPr/>
        </p:nvCxnSpPr>
        <p:spPr>
          <a:xfrm flipH="1" flipV="1">
            <a:off x="10410574" y="2656038"/>
            <a:ext cx="535639" cy="2347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E0828D3-FA6B-007E-A67C-8ED822648699}"/>
              </a:ext>
            </a:extLst>
          </p:cNvPr>
          <p:cNvCxnSpPr>
            <a:cxnSpLocks/>
            <a:stCxn id="44" idx="2"/>
            <a:endCxn id="14" idx="6"/>
          </p:cNvCxnSpPr>
          <p:nvPr/>
        </p:nvCxnSpPr>
        <p:spPr>
          <a:xfrm flipH="1" flipV="1">
            <a:off x="10465968" y="3772453"/>
            <a:ext cx="480245" cy="12309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FF388CF-8801-F29C-2596-D9B81620DB58}"/>
              </a:ext>
            </a:extLst>
          </p:cNvPr>
          <p:cNvCxnSpPr>
            <a:stCxn id="44" idx="2"/>
            <a:endCxn id="25" idx="6"/>
          </p:cNvCxnSpPr>
          <p:nvPr/>
        </p:nvCxnSpPr>
        <p:spPr>
          <a:xfrm flipH="1" flipV="1">
            <a:off x="10491816" y="4846093"/>
            <a:ext cx="454397" cy="157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6A9A6FD-3ACE-6D28-5162-5D3B7D29B84C}"/>
              </a:ext>
            </a:extLst>
          </p:cNvPr>
          <p:cNvCxnSpPr>
            <a:stCxn id="44" idx="2"/>
            <a:endCxn id="20" idx="6"/>
          </p:cNvCxnSpPr>
          <p:nvPr/>
        </p:nvCxnSpPr>
        <p:spPr>
          <a:xfrm flipH="1">
            <a:off x="10482896" y="5003379"/>
            <a:ext cx="463317" cy="10378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76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31B59E-0101-2936-1D83-18D154731CB6}"/>
                  </a:ext>
                </a:extLst>
              </p:cNvPr>
              <p:cNvSpPr txBox="1"/>
              <p:nvPr/>
            </p:nvSpPr>
            <p:spPr>
              <a:xfrm>
                <a:off x="528636" y="2120312"/>
                <a:ext cx="7058025" cy="810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Probability of  configuration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nary>
                          <m:naryPr>
                            <m:chr m:val="∏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!)</m:t>
                            </m:r>
                          </m:e>
                        </m:nary>
                      </m:den>
                    </m:f>
                    <m:nary>
                      <m:naryPr>
                        <m:chr m:val="∏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31B59E-0101-2936-1D83-18D154731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6" y="2120312"/>
                <a:ext cx="7058025" cy="810735"/>
              </a:xfrm>
              <a:prstGeom prst="rect">
                <a:avLst/>
              </a:prstGeom>
              <a:blipFill>
                <a:blip r:embed="rId2"/>
                <a:stretch>
                  <a:fillRect l="-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8D02545C-0FC1-4089-8A6F-F9DAFF84C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890" y="344745"/>
            <a:ext cx="10515600" cy="1325563"/>
          </a:xfrm>
        </p:spPr>
        <p:txBody>
          <a:bodyPr/>
          <a:lstStyle/>
          <a:p>
            <a:r>
              <a:rPr lang="en-US" dirty="0"/>
              <a:t>Statistical mechanics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37C9A6-CDCF-00DD-5C63-E7ED971B3ABA}"/>
              </a:ext>
            </a:extLst>
          </p:cNvPr>
          <p:cNvSpPr txBox="1"/>
          <p:nvPr/>
        </p:nvSpPr>
        <p:spPr>
          <a:xfrm>
            <a:off x="371475" y="1317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Multinomial Distribution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E14605-E4B2-7B0C-54A6-8BD0ECD55CE5}"/>
                  </a:ext>
                </a:extLst>
              </p:cNvPr>
              <p:cNvSpPr txBox="1"/>
              <p:nvPr/>
            </p:nvSpPr>
            <p:spPr>
              <a:xfrm>
                <a:off x="371475" y="5587989"/>
                <a:ext cx="6096000" cy="384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Total probability of not meeting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E14605-E4B2-7B0C-54A6-8BD0ECD55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5587989"/>
                <a:ext cx="6096000" cy="384914"/>
              </a:xfrm>
              <a:prstGeom prst="rect">
                <a:avLst/>
              </a:prstGeom>
              <a:blipFill>
                <a:blip r:embed="rId3"/>
                <a:stretch>
                  <a:fillRect l="-900" t="-114286" b="-17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FB8F14-E714-E5FC-B0EC-FFD606B56CD3}"/>
                  </a:ext>
                </a:extLst>
              </p:cNvPr>
              <p:cNvSpPr txBox="1"/>
              <p:nvPr/>
            </p:nvSpPr>
            <p:spPr>
              <a:xfrm>
                <a:off x="371475" y="4942366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Probability of no robot in region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FB8F14-E714-E5FC-B0EC-FFD606B56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4942366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l="-900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B50AFEC-A618-86BB-8768-DF707B42DE83}"/>
                  </a:ext>
                </a:extLst>
              </p:cNvPr>
              <p:cNvSpPr txBox="1"/>
              <p:nvPr/>
            </p:nvSpPr>
            <p:spPr>
              <a:xfrm>
                <a:off x="528636" y="3069193"/>
                <a:ext cx="9472613" cy="5457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Probability of  non-meeting configuration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nary>
                          <m:naryPr>
                            <m:chr m:val="∏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!)</m:t>
                            </m:r>
                          </m:e>
                        </m:nary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nary>
                      <m:naryPr>
                        <m:chr m:val="∏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bSup>
                      </m:e>
                    </m:nary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B50AFEC-A618-86BB-8768-DF707B42D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36" y="3069193"/>
                <a:ext cx="9472613" cy="545790"/>
              </a:xfrm>
              <a:prstGeom prst="rect">
                <a:avLst/>
              </a:prstGeom>
              <a:blipFill>
                <a:blip r:embed="rId5"/>
                <a:stretch>
                  <a:fillRect l="-579" t="-68889" b="-10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44445D5-61B0-768C-87E0-2F8AEC75441E}"/>
                  </a:ext>
                </a:extLst>
              </p:cNvPr>
              <p:cNvSpPr txBox="1"/>
              <p:nvPr/>
            </p:nvSpPr>
            <p:spPr>
              <a:xfrm>
                <a:off x="371475" y="3827980"/>
                <a:ext cx="8162925" cy="810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Transition probability from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44445D5-61B0-768C-87E0-2F8AEC754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3827980"/>
                <a:ext cx="8162925" cy="810735"/>
              </a:xfrm>
              <a:prstGeom prst="rect">
                <a:avLst/>
              </a:prstGeom>
              <a:blipFill>
                <a:blip r:embed="rId6"/>
                <a:stretch>
                  <a:fillRect l="-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6902A4-593C-533D-1451-EA58C99C7D57}"/>
                  </a:ext>
                </a:extLst>
              </p:cNvPr>
              <p:cNvSpPr txBox="1"/>
              <p:nvPr/>
            </p:nvSpPr>
            <p:spPr>
              <a:xfrm>
                <a:off x="8725769" y="526894"/>
                <a:ext cx="3094180" cy="25422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Flux matrix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num>
                                <m:den>
                                  <m:nary>
                                    <m:naryPr>
                                      <m:chr m:val="∏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den>
                              </m:f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𝑗𝑖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𝑗𝑖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A6902A4-593C-533D-1451-EA58C99C7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769" y="526894"/>
                <a:ext cx="3094180" cy="2542299"/>
              </a:xfrm>
              <a:prstGeom prst="rect">
                <a:avLst/>
              </a:prstGeom>
              <a:blipFill>
                <a:blip r:embed="rId7"/>
                <a:stretch>
                  <a:fillRect l="-4528" t="-2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54D518-257B-735A-14DE-FD0B380A9255}"/>
                  </a:ext>
                </a:extLst>
              </p:cNvPr>
              <p:cNvSpPr txBox="1"/>
              <p:nvPr/>
            </p:nvSpPr>
            <p:spPr>
              <a:xfrm>
                <a:off x="371475" y="5972903"/>
                <a:ext cx="6096000" cy="384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Total probability of meeting =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1− </m:t>
                    </m:r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54D518-257B-735A-14DE-FD0B380A9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5972903"/>
                <a:ext cx="6096000" cy="384914"/>
              </a:xfrm>
              <a:prstGeom prst="rect">
                <a:avLst/>
              </a:prstGeom>
              <a:blipFill>
                <a:blip r:embed="rId8"/>
                <a:stretch>
                  <a:fillRect l="-900" t="-114286" b="-17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2536988-3307-D22E-6706-2DDDA31E4BA2}"/>
                  </a:ext>
                </a:extLst>
              </p:cNvPr>
              <p:cNvSpPr txBox="1"/>
              <p:nvPr/>
            </p:nvSpPr>
            <p:spPr>
              <a:xfrm>
                <a:off x="6962775" y="4410075"/>
                <a:ext cx="3314700" cy="720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 robot transition to region j =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2536988-3307-D22E-6706-2DDDA31E4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775" y="4410075"/>
                <a:ext cx="3314700" cy="720518"/>
              </a:xfrm>
              <a:prstGeom prst="rect">
                <a:avLst/>
              </a:prstGeom>
              <a:blipFill>
                <a:blip r:embed="rId9"/>
                <a:stretch>
                  <a:fillRect l="-6434" t="-15966" b="-90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4C2E393-EB52-20BB-EC9D-8873547B7257}"/>
                  </a:ext>
                </a:extLst>
              </p:cNvPr>
              <p:cNvSpPr txBox="1"/>
              <p:nvPr/>
            </p:nvSpPr>
            <p:spPr>
              <a:xfrm>
                <a:off x="6296660" y="5388941"/>
                <a:ext cx="5857875" cy="452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 meet (given </a:t>
                </a:r>
                <a:r>
                  <a:rPr lang="en-US" dirty="0" err="1"/>
                  <a:t>n,i</a:t>
                </a:r>
                <a:r>
                  <a:rPr lang="en-US" dirty="0"/>
                  <a:t>) 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  <m:nary>
                          <m:naryPr>
                            <m:chr m:val="∏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4C2E393-EB52-20BB-EC9D-8873547B7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660" y="5388941"/>
                <a:ext cx="5857875" cy="452816"/>
              </a:xfrm>
              <a:prstGeom prst="rect">
                <a:avLst/>
              </a:prstGeom>
              <a:blipFill>
                <a:blip r:embed="rId10"/>
                <a:stretch>
                  <a:fillRect l="-937" t="-86486" b="-145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4DFA2F-3955-1B8D-0EC5-3A25DD65DBFA}"/>
                  </a:ext>
                </a:extLst>
              </p:cNvPr>
              <p:cNvSpPr txBox="1"/>
              <p:nvPr/>
            </p:nvSpPr>
            <p:spPr>
              <a:xfrm>
                <a:off x="583789" y="1403938"/>
                <a:ext cx="5764885" cy="552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Number of configuration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14DFA2F-3955-1B8D-0EC5-3A25DD65D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89" y="1403938"/>
                <a:ext cx="5764885" cy="552459"/>
              </a:xfrm>
              <a:prstGeom prst="rect">
                <a:avLst/>
              </a:prstGeom>
              <a:blipFill>
                <a:blip r:embed="rId11"/>
                <a:stretch>
                  <a:fillRect l="-952" b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EA324FA-AD7D-FA63-111C-15B2F45F3477}"/>
                  </a:ext>
                </a:extLst>
              </p:cNvPr>
              <p:cNvSpPr txBox="1"/>
              <p:nvPr/>
            </p:nvSpPr>
            <p:spPr>
              <a:xfrm>
                <a:off x="6096000" y="5873697"/>
                <a:ext cx="5857875" cy="452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 meet (given n) 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  <m:nary>
                          <m:naryPr>
                            <m:chr m:val="∏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EA324FA-AD7D-FA63-111C-15B2F45F3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873697"/>
                <a:ext cx="5857875" cy="452816"/>
              </a:xfrm>
              <a:prstGeom prst="rect">
                <a:avLst/>
              </a:prstGeom>
              <a:blipFill>
                <a:blip r:embed="rId12"/>
                <a:stretch>
                  <a:fillRect l="-832" t="-86486" b="-145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9702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D5209-1874-2169-C4F2-EB66FB44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89FA415-3DF5-BB05-6463-F88D8F7FD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890" y="344745"/>
            <a:ext cx="10515600" cy="1325563"/>
          </a:xfrm>
        </p:spPr>
        <p:txBody>
          <a:bodyPr/>
          <a:lstStyle/>
          <a:p>
            <a:r>
              <a:rPr lang="en-US" dirty="0"/>
              <a:t>Statistical mechanics 2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7E2DCD-EEB8-CC14-E6D8-1DD4F3194ED3}"/>
                  </a:ext>
                </a:extLst>
              </p:cNvPr>
              <p:cNvSpPr txBox="1"/>
              <p:nvPr/>
            </p:nvSpPr>
            <p:spPr>
              <a:xfrm>
                <a:off x="7181850" y="932638"/>
                <a:ext cx="5857875" cy="332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Not meet at 1 (given n)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nary>
                      <m:naryPr>
                        <m:chr m:val="∑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𝑗𝑖</m:t>
                            </m:r>
                          </m:sub>
                        </m:sSub>
                        <m:nary>
                          <m:naryPr>
                            <m:chr m:val="∏"/>
                            <m:supHide m:val="on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𝑗𝑘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7E2DCD-EEB8-CC14-E6D8-1DD4F3194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850" y="932638"/>
                <a:ext cx="5857875" cy="332720"/>
              </a:xfrm>
              <a:prstGeom prst="rect">
                <a:avLst/>
              </a:prstGeom>
              <a:blipFill>
                <a:blip r:embed="rId2"/>
                <a:stretch>
                  <a:fillRect t="-70909" b="-1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657C06-10D2-0A6F-12DE-45875D5B9C6A}"/>
                  </a:ext>
                </a:extLst>
              </p:cNvPr>
              <p:cNvSpPr txBox="1"/>
              <p:nvPr/>
            </p:nvSpPr>
            <p:spPr>
              <a:xfrm>
                <a:off x="535902" y="4525984"/>
                <a:ext cx="9693948" cy="10764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 meet at 1 (given not meet at 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657C06-10D2-0A6F-12DE-45875D5B9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02" y="4525984"/>
                <a:ext cx="9693948" cy="1076449"/>
              </a:xfrm>
              <a:prstGeom prst="rect">
                <a:avLst/>
              </a:prstGeom>
              <a:blipFill>
                <a:blip r:embed="rId3"/>
                <a:stretch>
                  <a:fillRect l="-566" t="-2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3CA6BC-41DE-515D-987D-332D12A2A8C2}"/>
                  </a:ext>
                </a:extLst>
              </p:cNvPr>
              <p:cNvSpPr txBox="1"/>
              <p:nvPr/>
            </p:nvSpPr>
            <p:spPr>
              <a:xfrm>
                <a:off x="7181850" y="634650"/>
                <a:ext cx="6096000" cy="2810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Total probability of not meeting at 0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p>
                    </m:sSup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3CA6BC-41DE-515D-987D-332D12A2A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850" y="634650"/>
                <a:ext cx="6096000" cy="281039"/>
              </a:xfrm>
              <a:prstGeom prst="rect">
                <a:avLst/>
              </a:prstGeom>
              <a:blipFill>
                <a:blip r:embed="rId4"/>
                <a:stretch>
                  <a:fillRect t="-95652" b="-15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F9A770-6DE9-6DF5-9F75-BB99705ECC0A}"/>
                  </a:ext>
                </a:extLst>
              </p:cNvPr>
              <p:cNvSpPr txBox="1"/>
              <p:nvPr/>
            </p:nvSpPr>
            <p:spPr>
              <a:xfrm>
                <a:off x="595312" y="1708481"/>
                <a:ext cx="8772525" cy="1077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 meet at 1 (given not meet at 0, n)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𝑗𝑖</m:t>
                              </m:r>
                            </m:sub>
                          </m:sSub>
                          <m:nary>
                            <m:naryPr>
                              <m:chr m:val="∏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F9A770-6DE9-6DF5-9F75-BB99705EC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12" y="1708481"/>
                <a:ext cx="8772525" cy="1077731"/>
              </a:xfrm>
              <a:prstGeom prst="rect">
                <a:avLst/>
              </a:prstGeom>
              <a:blipFill>
                <a:blip r:embed="rId5"/>
                <a:stretch>
                  <a:fillRect l="-625" t="-2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891CEF-2411-16DA-A66B-BC931413E880}"/>
                  </a:ext>
                </a:extLst>
              </p:cNvPr>
              <p:cNvSpPr txBox="1"/>
              <p:nvPr/>
            </p:nvSpPr>
            <p:spPr>
              <a:xfrm>
                <a:off x="595312" y="2986556"/>
                <a:ext cx="11444288" cy="10852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Not meet at 1 (given not meet at 0)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0 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den>
                              </m:f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0 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𝑗𝑖</m:t>
                                      </m:r>
                                    </m:sub>
                                  </m:sSub>
                                  <m:nary>
                                    <m:naryPr>
                                      <m:chr m:val="∏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𝑗𝑘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</m:e>
                                  </m:nary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891CEF-2411-16DA-A66B-BC931413E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12" y="2986556"/>
                <a:ext cx="11444288" cy="1085233"/>
              </a:xfrm>
              <a:prstGeom prst="rect">
                <a:avLst/>
              </a:prstGeom>
              <a:blipFill>
                <a:blip r:embed="rId6"/>
                <a:stretch>
                  <a:fillRect l="-479" t="-2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9A04A1-F27E-1DA3-13AE-412B71981C0C}"/>
                  </a:ext>
                </a:extLst>
              </p:cNvPr>
              <p:cNvSpPr txBox="1"/>
              <p:nvPr/>
            </p:nvSpPr>
            <p:spPr>
              <a:xfrm>
                <a:off x="7181850" y="1422826"/>
                <a:ext cx="5972175" cy="571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Pr</m:t>
                    </m:r>
                    <m:d>
                      <m:dPr>
                        <m:begChr m:val="["/>
                        <m:endChr m:val="]"/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</m:m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nary>
                          <m:naryPr>
                            <m:chr m:val="∏"/>
                            <m:supHide m:val="on"/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!)</m:t>
                            </m:r>
                          </m:e>
                        </m:nary>
                      </m:den>
                    </m:f>
                    <m:nary>
                      <m:naryPr>
                        <m:chr m:val="∏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bSup>
                      </m:e>
                    </m:nary>
                  </m:oMath>
                </a14:m>
                <a:r>
                  <a:rPr lang="en-US" sz="1200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09A04A1-F27E-1DA3-13AE-412B71981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850" y="1422826"/>
                <a:ext cx="5972175" cy="571310"/>
              </a:xfrm>
              <a:prstGeom prst="rect">
                <a:avLst/>
              </a:prstGeom>
              <a:blipFill>
                <a:blip r:embed="rId7"/>
                <a:stretch>
                  <a:fillRect t="-21277" b="-5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8C78D5-B02A-A431-7CDB-DDFE289B088B}"/>
                  </a:ext>
                </a:extLst>
              </p:cNvPr>
              <p:cNvSpPr txBox="1"/>
              <p:nvPr/>
            </p:nvSpPr>
            <p:spPr>
              <a:xfrm>
                <a:off x="542290" y="5602433"/>
                <a:ext cx="6639560" cy="11425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Not meet at 1 (given not meet at 0)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≠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𝑗𝑖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𝑗𝑘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nary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8C78D5-B02A-A431-7CDB-DDFE289B0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90" y="5602433"/>
                <a:ext cx="6639560" cy="1142557"/>
              </a:xfrm>
              <a:prstGeom prst="rect">
                <a:avLst/>
              </a:prstGeom>
              <a:blipFill>
                <a:blip r:embed="rId8"/>
                <a:stretch>
                  <a:fillRect l="-826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487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6A6490-D13E-0CDC-AA4B-70317E9E725B}"/>
                  </a:ext>
                </a:extLst>
              </p:cNvPr>
              <p:cNvSpPr txBox="1"/>
              <p:nvPr/>
            </p:nvSpPr>
            <p:spPr>
              <a:xfrm>
                <a:off x="5905500" y="576327"/>
                <a:ext cx="6286500" cy="6580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𝑖𝑛𝑓𝑜𝑟𝑚𝑒𝑑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𝑚𝑒𝑒𝑡𝑖𝑛𝑔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6A6490-D13E-0CDC-AA4B-70317E9E7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0" y="576327"/>
                <a:ext cx="6286500" cy="6580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AD8389-15D0-2DD0-6975-A329EEF5714A}"/>
                  </a:ext>
                </a:extLst>
              </p:cNvPr>
              <p:cNvSpPr txBox="1"/>
              <p:nvPr/>
            </p:nvSpPr>
            <p:spPr>
              <a:xfrm>
                <a:off x="403076" y="1831432"/>
                <a:ext cx="3553857" cy="6287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𝑖𝑛𝑓𝑜𝑟𝑚𝑒𝑑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</m:d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AD8389-15D0-2DD0-6975-A329EEF57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76" y="1831432"/>
                <a:ext cx="3553857" cy="6287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893615-5557-9F4F-CABB-C309E6461F2A}"/>
                  </a:ext>
                </a:extLst>
              </p:cNvPr>
              <p:cNvSpPr txBox="1"/>
              <p:nvPr/>
            </p:nvSpPr>
            <p:spPr>
              <a:xfrm>
                <a:off x="-657225" y="846349"/>
                <a:ext cx="6096000" cy="374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𝑚𝑒𝑒𝑡𝑖𝑛𝑔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893615-5557-9F4F-CABB-C309E6461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7225" y="846349"/>
                <a:ext cx="6096000" cy="374911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EDDD42-7603-FE94-625E-17EAB510A28A}"/>
                  </a:ext>
                </a:extLst>
              </p:cNvPr>
              <p:cNvSpPr txBox="1"/>
              <p:nvPr/>
            </p:nvSpPr>
            <p:spPr>
              <a:xfrm>
                <a:off x="5698359" y="1801384"/>
                <a:ext cx="3912366" cy="6053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𝑐𝑜𝑚𝑝𝑜𝑢𝑛𝑑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EDDD42-7603-FE94-625E-17EAB510A2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359" y="1801384"/>
                <a:ext cx="3912366" cy="60535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4D1934-A33C-F3D9-63FF-E0262D693989}"/>
                  </a:ext>
                </a:extLst>
              </p:cNvPr>
              <p:cNvSpPr txBox="1"/>
              <p:nvPr/>
            </p:nvSpPr>
            <p:spPr>
              <a:xfrm>
                <a:off x="545951" y="2964907"/>
                <a:ext cx="9676047" cy="6287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𝑖𝑛𝑓𝑜𝑟𝑚𝑒𝑑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𝑚𝑒𝑒𝑡𝑖𝑛𝑔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0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0)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𝑚𝑒𝑒𝑡𝑖𝑛𝑔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</m:d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4D1934-A33C-F3D9-63FF-E0262D693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51" y="2964907"/>
                <a:ext cx="9676047" cy="6287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0614F1-3991-7FC0-A808-EB71E6276785}"/>
                  </a:ext>
                </a:extLst>
              </p:cNvPr>
              <p:cNvSpPr txBox="1"/>
              <p:nvPr/>
            </p:nvSpPr>
            <p:spPr>
              <a:xfrm>
                <a:off x="5979319" y="173316"/>
                <a:ext cx="64246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𝑖𝑛𝑓𝑜𝑟𝑚𝑒𝑑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1|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𝑚𝑒𝑒𝑡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0614F1-3991-7FC0-A808-EB71E6276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319" y="173316"/>
                <a:ext cx="6424612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CA76E65-8AE2-52DC-F9FD-3E93724FC5A0}"/>
                  </a:ext>
                </a:extLst>
              </p:cNvPr>
              <p:cNvSpPr txBox="1"/>
              <p:nvPr/>
            </p:nvSpPr>
            <p:spPr>
              <a:xfrm>
                <a:off x="-1" y="4454009"/>
                <a:ext cx="12068176" cy="13498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𝑚𝑒𝑒𝑡𝑖𝑛𝑔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𝑖𝑛𝑓𝑜𝑟𝑚𝑒𝑑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1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sup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</m:e>
                                    </m:mr>
                                  </m:m>
                                </m:e>
                              </m:d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bSup>
                            </m:e>
                          </m:d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  <m:sup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sup>
                                            </m:sSup>
                                          </m: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sup>
                                            </m:sSup>
                                          </m:e>
                                        </m:mr>
                                      </m:m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</m:sSubSup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  <m:sup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sup>
                                            </m:sSup>
                                          </m: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sup>
                                            </m:sSup>
                                          </m:e>
                                        </m:mr>
                                      </m:m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</m:sSubSup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</m:d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e>
                                              <m:sup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sup>
                                            </m:sSup>
                                          </m: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sup>
                                            </m:sSup>
                                          </m:e>
                                        </m:mr>
                                      </m:m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</m:sSubSup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22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CA76E65-8AE2-52DC-F9FD-3E93724FC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4454009"/>
                <a:ext cx="12068176" cy="134985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AC46B64A-6384-028E-DAE1-7FE2297119E5}"/>
              </a:ext>
            </a:extLst>
          </p:cNvPr>
          <p:cNvSpPr txBox="1"/>
          <p:nvPr/>
        </p:nvSpPr>
        <p:spPr>
          <a:xfrm>
            <a:off x="9610725" y="5640868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rho0 = pi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867832-620B-8F7D-1587-2CA2278133F1}"/>
                  </a:ext>
                </a:extLst>
              </p:cNvPr>
              <p:cNvSpPr txBox="1"/>
              <p:nvPr/>
            </p:nvSpPr>
            <p:spPr>
              <a:xfrm>
                <a:off x="152399" y="155138"/>
                <a:ext cx="1709033" cy="4056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867832-620B-8F7D-1587-2CA227813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99" y="155138"/>
                <a:ext cx="1709033" cy="4056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388BFE8-8EE9-C2C6-DFCF-75829E4FB804}"/>
                  </a:ext>
                </a:extLst>
              </p:cNvPr>
              <p:cNvSpPr txBox="1"/>
              <p:nvPr/>
            </p:nvSpPr>
            <p:spPr>
              <a:xfrm>
                <a:off x="1861432" y="175557"/>
                <a:ext cx="1866901" cy="391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05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05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2 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sz="105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388BFE8-8EE9-C2C6-DFCF-75829E4FB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432" y="175557"/>
                <a:ext cx="1866901" cy="391710"/>
              </a:xfrm>
              <a:prstGeom prst="rect">
                <a:avLst/>
              </a:prstGeom>
              <a:blipFill>
                <a:blip r:embed="rId11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4D5C8B-6A83-1CCE-690B-E1FEFA011B66}"/>
                  </a:ext>
                </a:extLst>
              </p:cNvPr>
              <p:cNvSpPr txBox="1"/>
              <p:nvPr/>
            </p:nvSpPr>
            <p:spPr>
              <a:xfrm>
                <a:off x="1006915" y="5934879"/>
                <a:ext cx="6529386" cy="7179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4D5C8B-6A83-1CCE-690B-E1FEFA011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915" y="5934879"/>
                <a:ext cx="6529386" cy="7179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7071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BE656-2F24-DBDF-03AF-3E84F895B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AA9EA2-20D0-950A-5BED-602200377E9E}"/>
                  </a:ext>
                </a:extLst>
              </p:cNvPr>
              <p:cNvSpPr txBox="1"/>
              <p:nvPr/>
            </p:nvSpPr>
            <p:spPr>
              <a:xfrm>
                <a:off x="838200" y="1676401"/>
                <a:ext cx="61341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b="0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dirty="0"/>
                  <a:t> find combined initial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AA9EA2-20D0-950A-5BED-602200377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76401"/>
                <a:ext cx="6134100" cy="276999"/>
              </a:xfrm>
              <a:prstGeom prst="rect">
                <a:avLst/>
              </a:prstGeom>
              <a:blipFill>
                <a:blip r:embed="rId3"/>
                <a:stretch>
                  <a:fillRect l="-2386" t="-26667" b="-5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E56EBA4-D2C5-FDB1-082D-0142364EBBA1}"/>
              </a:ext>
            </a:extLst>
          </p:cNvPr>
          <p:cNvSpPr txBox="1"/>
          <p:nvPr/>
        </p:nvSpPr>
        <p:spPr>
          <a:xfrm>
            <a:off x="838200" y="2447966"/>
            <a:ext cx="10029825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Partition to state of robot 1 being with other informed robots (informed state) and not being with other informed robots (uninformed state)</a:t>
            </a:r>
          </a:p>
          <a:p>
            <a:r>
              <a:rPr lang="en-US" dirty="0"/>
              <a:t>Informed probability is the flux ratio from uninformed to informed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3D8D0B-74A1-9D94-497A-A1A44DACB1D7}"/>
                  </a:ext>
                </a:extLst>
              </p:cNvPr>
              <p:cNvSpPr txBox="1"/>
              <p:nvPr/>
            </p:nvSpPr>
            <p:spPr>
              <a:xfrm>
                <a:off x="838200" y="2062183"/>
                <a:ext cx="61341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b="0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find compound transition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𝑐𝑜𝑚𝑏𝑖𝑛𝑒𝑑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3D8D0B-74A1-9D94-497A-A1A44DACB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62183"/>
                <a:ext cx="6134100" cy="276999"/>
              </a:xfrm>
              <a:prstGeom prst="rect">
                <a:avLst/>
              </a:prstGeom>
              <a:blipFill>
                <a:blip r:embed="rId4"/>
                <a:stretch>
                  <a:fillRect l="-2386" t="-26087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C060F0-7026-0010-FEB4-044A0B961739}"/>
                  </a:ext>
                </a:extLst>
              </p:cNvPr>
              <p:cNvSpPr txBox="1"/>
              <p:nvPr/>
            </p:nvSpPr>
            <p:spPr>
              <a:xfrm>
                <a:off x="-151765" y="5060407"/>
                <a:ext cx="9918997" cy="6027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𝑖𝑛𝑓𝑜𝑟𝑚𝑒𝑑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𝑖𝑛𝑓𝑜𝑟𝑚𝑒𝑑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𝑖𝑛𝑓𝑜𝑟𝑚𝑒𝑑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𝑖𝑛𝑓𝑜𝑟𝑚𝑒𝑑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0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𝑖𝑛𝑓𝑜𝑟𝑚𝑒𝑑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C060F0-7026-0010-FEB4-044A0B961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1765" y="5060407"/>
                <a:ext cx="9918997" cy="6027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17401B-A2BC-6B9F-48A4-FB864C5B0BF3}"/>
                  </a:ext>
                </a:extLst>
              </p:cNvPr>
              <p:cNvSpPr txBox="1"/>
              <p:nvPr/>
            </p:nvSpPr>
            <p:spPr>
              <a:xfrm>
                <a:off x="88134" y="3415782"/>
                <a:ext cx="2540766" cy="6381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𝑐𝑜𝑚𝑝𝑜𝑢𝑛𝑑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17401B-A2BC-6B9F-48A4-FB864C5B0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4" y="3415782"/>
                <a:ext cx="2540766" cy="6381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3FF744-802D-D606-3A22-73EFB50C4DA4}"/>
                  </a:ext>
                </a:extLst>
              </p:cNvPr>
              <p:cNvSpPr txBox="1"/>
              <p:nvPr/>
            </p:nvSpPr>
            <p:spPr>
              <a:xfrm>
                <a:off x="2781301" y="3446502"/>
                <a:ext cx="5734050" cy="1008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𝜆𝜋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Q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3FF744-802D-D606-3A22-73EFB50C4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301" y="3446502"/>
                <a:ext cx="5734050" cy="1008738"/>
              </a:xfrm>
              <a:prstGeom prst="rect">
                <a:avLst/>
              </a:prstGeom>
              <a:blipFill>
                <a:blip r:embed="rId7"/>
                <a:stretch>
                  <a:fillRect l="-850" b="-7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6C309EE-41AD-4720-1375-FE617D3F3A83}"/>
                  </a:ext>
                </a:extLst>
              </p:cNvPr>
              <p:cNvSpPr txBox="1"/>
              <p:nvPr/>
            </p:nvSpPr>
            <p:spPr>
              <a:xfrm>
                <a:off x="6725723" y="4327954"/>
                <a:ext cx="5647252" cy="5896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𝑖𝑛𝑓𝑜𝑟𝑚𝑒𝑑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6C309EE-41AD-4720-1375-FE617D3F3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5723" y="4327954"/>
                <a:ext cx="5647252" cy="589649"/>
              </a:xfrm>
              <a:prstGeom prst="rect">
                <a:avLst/>
              </a:prstGeom>
              <a:blipFill>
                <a:blip r:embed="rId8"/>
                <a:stretch>
                  <a:fillRect l="-108" b="-12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970739-3F6C-D0C1-83EA-19AD801B6BD3}"/>
                  </a:ext>
                </a:extLst>
              </p:cNvPr>
              <p:cNvSpPr txBox="1"/>
              <p:nvPr/>
            </p:nvSpPr>
            <p:spPr>
              <a:xfrm>
                <a:off x="5362575" y="357982"/>
                <a:ext cx="6286500" cy="6580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𝑖𝑛𝑓𝑜𝑟𝑚𝑒𝑑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𝑚𝑒𝑒𝑡𝑖𝑛𝑔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𝑖𝑛𝑓𝑜𝑟𝑚𝑒𝑑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𝑟𝑜𝑏𝑜𝑡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970739-3F6C-D0C1-83EA-19AD801B6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575" y="357982"/>
                <a:ext cx="6286500" cy="6580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6AE677-39C0-2A20-6FB3-EF4AF851C3AC}"/>
                  </a:ext>
                </a:extLst>
              </p:cNvPr>
              <p:cNvSpPr txBox="1"/>
              <p:nvPr/>
            </p:nvSpPr>
            <p:spPr>
              <a:xfrm>
                <a:off x="1970188" y="5925328"/>
                <a:ext cx="84222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𝑖𝑛𝑓𝑜𝑟𝑚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1 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𝑖𝑛𝑓𝑜𝑟𝑚𝑒𝑑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6AE677-39C0-2A20-6FB3-EF4AF851C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188" y="5925328"/>
                <a:ext cx="8422222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FB5478-E512-1F78-E3A2-3A0C76F1BC22}"/>
                  </a:ext>
                </a:extLst>
              </p:cNvPr>
              <p:cNvSpPr txBox="1"/>
              <p:nvPr/>
            </p:nvSpPr>
            <p:spPr>
              <a:xfrm>
                <a:off x="1884888" y="6372121"/>
                <a:ext cx="1005311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𝑖𝑛𝑓𝑜𝑟𝑚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𝑖𝑛𝑓𝑜𝑟𝑚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𝑖𝑛𝑓𝑜𝑟𝑚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𝑖𝑛𝑓𝑜𝑟𝑚𝑒𝑑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FB5478-E512-1F78-E3A2-3A0C76F1B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888" y="6372121"/>
                <a:ext cx="10053111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9355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C1E37-60DA-6A13-4694-3F92231D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approximation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57E5F0-FC7D-2BC5-F464-2DD2458248BD}"/>
                  </a:ext>
                </a:extLst>
              </p:cNvPr>
              <p:cNvSpPr txBox="1"/>
              <p:nvPr/>
            </p:nvSpPr>
            <p:spPr>
              <a:xfrm>
                <a:off x="838200" y="2114279"/>
                <a:ext cx="4209101" cy="375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sup>
                      </m:sSub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57E5F0-FC7D-2BC5-F464-2DD245824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14279"/>
                <a:ext cx="4209101" cy="375424"/>
              </a:xfrm>
              <a:prstGeom prst="rect">
                <a:avLst/>
              </a:prstGeom>
              <a:blipFill>
                <a:blip r:embed="rId2"/>
                <a:stretch>
                  <a:fillRect l="-580" b="-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9297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14794</TotalTime>
  <Words>1643</Words>
  <Application>Microsoft Office PowerPoint</Application>
  <PresentationFormat>Widescreen</PresentationFormat>
  <Paragraphs>287</Paragraphs>
  <Slides>27</Slides>
  <Notes>4</Notes>
  <HiddenSlides>1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Cambria Math</vt:lpstr>
      <vt:lpstr>Office Theme</vt:lpstr>
      <vt:lpstr>Percolation of information in an ergodic robotic network</vt:lpstr>
      <vt:lpstr>Motivation </vt:lpstr>
      <vt:lpstr>Recap </vt:lpstr>
      <vt:lpstr>Communication Protocol </vt:lpstr>
      <vt:lpstr>Problem Formulation </vt:lpstr>
      <vt:lpstr>Pictorial Representation </vt:lpstr>
      <vt:lpstr>PowerPoint Presentation</vt:lpstr>
      <vt:lpstr>Percolation Theory</vt:lpstr>
      <vt:lpstr>Information Percolation </vt:lpstr>
      <vt:lpstr>Simulated Result </vt:lpstr>
      <vt:lpstr>Mean Field Approximation </vt:lpstr>
      <vt:lpstr>Mean Field Approximation - Formulation</vt:lpstr>
      <vt:lpstr>Markov Chain Formulation </vt:lpstr>
      <vt:lpstr>Expected Absorption Time </vt:lpstr>
      <vt:lpstr>First Hitting Time Method (fully connected) </vt:lpstr>
      <vt:lpstr>PowerPoint Presentation</vt:lpstr>
      <vt:lpstr>Pairwise Meeting Chance on Region Graph</vt:lpstr>
      <vt:lpstr>PowerPoint Presentation</vt:lpstr>
      <vt:lpstr>Conditional Pairwise Meeting Chance</vt:lpstr>
      <vt:lpstr>Time varying first hit model</vt:lpstr>
      <vt:lpstr>Region-aware absorbing chain</vt:lpstr>
      <vt:lpstr>1 robot getting informed in 1 step</vt:lpstr>
      <vt:lpstr>Statistical mechanics 1</vt:lpstr>
      <vt:lpstr>Statistical mechanics 2 </vt:lpstr>
      <vt:lpstr>PowerPoint Presentation</vt:lpstr>
      <vt:lpstr>Generalize </vt:lpstr>
      <vt:lpstr>Independent approximation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Yat Chun Wong</dc:creator>
  <cp:lastModifiedBy>Benjamin Wong</cp:lastModifiedBy>
  <cp:revision>100</cp:revision>
  <dcterms:created xsi:type="dcterms:W3CDTF">2025-12-25T04:02:46Z</dcterms:created>
  <dcterms:modified xsi:type="dcterms:W3CDTF">2026-06-04T19:36:03Z</dcterms:modified>
</cp:coreProperties>
</file>